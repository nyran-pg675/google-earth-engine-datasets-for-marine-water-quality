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6" r:id="rId11"/>
    <p:sldId id="265" r:id="rId12"/>
  </p:sldIdLst>
  <p:sldSz cx="12192000" cy="6858000"/>
  <p:notesSz cx="6858000" cy="9144000"/>
  <p:defaultTextStyle>
    <a:defPPr>
      <a:defRPr lang="en-P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60"/>
  </p:normalViewPr>
  <p:slideViewPr>
    <p:cSldViewPr snapToGrid="0">
      <p:cViewPr varScale="1">
        <p:scale>
          <a:sx n="63" d="100"/>
          <a:sy n="63" d="100"/>
        </p:scale>
        <p:origin x="792" y="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EBD17C-39E7-4EFD-8C5D-8B07908071D8}" type="doc">
      <dgm:prSet loTypeId="urn:microsoft.com/office/officeart/2018/2/layout/IconLabelList" loCatId="icon" qsTypeId="urn:microsoft.com/office/officeart/2005/8/quickstyle/simple1" qsCatId="simple" csTypeId="urn:microsoft.com/office/officeart/2018/5/colors/Iconchunking_neutralbg_accent2_2" csCatId="accent2" phldr="1"/>
      <dgm:spPr/>
      <dgm:t>
        <a:bodyPr/>
        <a:lstStyle/>
        <a:p>
          <a:endParaRPr lang="en-US"/>
        </a:p>
      </dgm:t>
    </dgm:pt>
    <dgm:pt modelId="{546C1B44-3B7E-493E-B315-CC00B29D9AB1}">
      <dgm:prSet/>
      <dgm:spPr/>
      <dgm:t>
        <a:bodyPr/>
        <a:lstStyle/>
        <a:p>
          <a:r>
            <a:rPr lang="en-GB" b="1" dirty="0"/>
            <a:t>Student: Nyran Abraham Tahija</a:t>
          </a:r>
          <a:endParaRPr lang="en-US" dirty="0"/>
        </a:p>
      </dgm:t>
    </dgm:pt>
    <dgm:pt modelId="{CBCF5D67-D795-4298-958D-7C26435AF13F}" type="parTrans" cxnId="{02EEBB5D-7102-4190-98E2-42495B07797F}">
      <dgm:prSet/>
      <dgm:spPr/>
      <dgm:t>
        <a:bodyPr/>
        <a:lstStyle/>
        <a:p>
          <a:endParaRPr lang="en-US"/>
        </a:p>
      </dgm:t>
    </dgm:pt>
    <dgm:pt modelId="{47D259CC-F309-4222-AB99-2D5D8F8A7CA6}" type="sibTrans" cxnId="{02EEBB5D-7102-4190-98E2-42495B07797F}">
      <dgm:prSet/>
      <dgm:spPr/>
      <dgm:t>
        <a:bodyPr/>
        <a:lstStyle/>
        <a:p>
          <a:endParaRPr lang="en-US"/>
        </a:p>
      </dgm:t>
    </dgm:pt>
    <dgm:pt modelId="{D8585993-6C08-4754-8967-A1D170DC98DF}">
      <dgm:prSet/>
      <dgm:spPr/>
      <dgm:t>
        <a:bodyPr/>
        <a:lstStyle/>
        <a:p>
          <a:r>
            <a:rPr lang="en-GB" b="1" dirty="0"/>
            <a:t>Lecturer: </a:t>
          </a:r>
          <a:r>
            <a:rPr lang="en-GB" b="1" dirty="0" err="1"/>
            <a:t>Dr.</a:t>
          </a:r>
          <a:r>
            <a:rPr lang="en-GB" b="1" dirty="0"/>
            <a:t> Pankaj Kumar</a:t>
          </a:r>
          <a:endParaRPr lang="en-US" dirty="0"/>
        </a:p>
      </dgm:t>
    </dgm:pt>
    <dgm:pt modelId="{E2518250-477F-4A95-BFBE-612CB0681F2B}" type="parTrans" cxnId="{AA9DA3F8-7E7A-413D-8A65-782A8F240F1A}">
      <dgm:prSet/>
      <dgm:spPr/>
      <dgm:t>
        <a:bodyPr/>
        <a:lstStyle/>
        <a:p>
          <a:endParaRPr lang="en-US"/>
        </a:p>
      </dgm:t>
    </dgm:pt>
    <dgm:pt modelId="{D6FCECEC-3EC7-480E-9F17-8AD636479366}" type="sibTrans" cxnId="{AA9DA3F8-7E7A-413D-8A65-782A8F240F1A}">
      <dgm:prSet/>
      <dgm:spPr/>
      <dgm:t>
        <a:bodyPr/>
        <a:lstStyle/>
        <a:p>
          <a:endParaRPr lang="en-US"/>
        </a:p>
      </dgm:t>
    </dgm:pt>
    <dgm:pt modelId="{C074748B-D8A5-43E0-89A2-C9A650673785}">
      <dgm:prSet/>
      <dgm:spPr/>
      <dgm:t>
        <a:bodyPr/>
        <a:lstStyle/>
        <a:p>
          <a:r>
            <a:rPr lang="en-PG" b="1" dirty="0"/>
            <a:t>Date</a:t>
          </a:r>
          <a:r>
            <a:rPr lang="en-GB" b="1" dirty="0"/>
            <a:t>: 18/02/2025</a:t>
          </a:r>
          <a:endParaRPr lang="en-US" dirty="0"/>
        </a:p>
      </dgm:t>
    </dgm:pt>
    <dgm:pt modelId="{CACEDB2D-FFF9-4004-B912-C97DFAA4C1ED}" type="parTrans" cxnId="{E00B8603-EB47-40E7-9517-DAE5A77C1342}">
      <dgm:prSet/>
      <dgm:spPr/>
      <dgm:t>
        <a:bodyPr/>
        <a:lstStyle/>
        <a:p>
          <a:endParaRPr lang="en-US"/>
        </a:p>
      </dgm:t>
    </dgm:pt>
    <dgm:pt modelId="{3034DCAE-1192-40C0-B194-42B8A0DD63C9}" type="sibTrans" cxnId="{E00B8603-EB47-40E7-9517-DAE5A77C1342}">
      <dgm:prSet/>
      <dgm:spPr/>
      <dgm:t>
        <a:bodyPr/>
        <a:lstStyle/>
        <a:p>
          <a:endParaRPr lang="en-US"/>
        </a:p>
      </dgm:t>
    </dgm:pt>
    <dgm:pt modelId="{5EC3A595-E198-4F16-98C6-AC9A5326AF1B}" type="pres">
      <dgm:prSet presAssocID="{D9EBD17C-39E7-4EFD-8C5D-8B07908071D8}" presName="root" presStyleCnt="0">
        <dgm:presLayoutVars>
          <dgm:dir/>
          <dgm:resizeHandles val="exact"/>
        </dgm:presLayoutVars>
      </dgm:prSet>
      <dgm:spPr/>
    </dgm:pt>
    <dgm:pt modelId="{7673A4CE-75F0-4919-BF64-1B6D78CC9A37}" type="pres">
      <dgm:prSet presAssocID="{546C1B44-3B7E-493E-B315-CC00B29D9AB1}" presName="compNode" presStyleCnt="0"/>
      <dgm:spPr/>
    </dgm:pt>
    <dgm:pt modelId="{A30CA7DC-6D20-49AA-A238-6B970CB83D49}" type="pres">
      <dgm:prSet presAssocID="{546C1B44-3B7E-493E-B315-CC00B29D9AB1}" presName="iconRect" presStyleLbl="node1" presStyleIdx="0" presStyleCnt="3" custLinFactX="100000" custLinFactNeighborX="164546" custLinFactNeighborY="2316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E889FEF7-3E92-497B-A00B-F0456949C2FB}" type="pres">
      <dgm:prSet presAssocID="{546C1B44-3B7E-493E-B315-CC00B29D9AB1}" presName="spaceRect" presStyleCnt="0"/>
      <dgm:spPr/>
    </dgm:pt>
    <dgm:pt modelId="{EAF5E042-00C5-4D12-A303-F5AB876F5638}" type="pres">
      <dgm:prSet presAssocID="{546C1B44-3B7E-493E-B315-CC00B29D9AB1}" presName="textRect" presStyleLbl="revTx" presStyleIdx="0" presStyleCnt="3">
        <dgm:presLayoutVars>
          <dgm:chMax val="1"/>
          <dgm:chPref val="1"/>
        </dgm:presLayoutVars>
      </dgm:prSet>
      <dgm:spPr/>
    </dgm:pt>
    <dgm:pt modelId="{DBC45660-A649-4DA7-93B4-FAE7277F3E5C}" type="pres">
      <dgm:prSet presAssocID="{47D259CC-F309-4222-AB99-2D5D8F8A7CA6}" presName="sibTrans" presStyleCnt="0"/>
      <dgm:spPr/>
    </dgm:pt>
    <dgm:pt modelId="{83A85818-0229-471F-9397-17159FA6C451}" type="pres">
      <dgm:prSet presAssocID="{D8585993-6C08-4754-8967-A1D170DC98DF}" presName="compNode" presStyleCnt="0"/>
      <dgm:spPr/>
    </dgm:pt>
    <dgm:pt modelId="{B2A4880B-ED25-477C-9A96-ACF38E8C358F}" type="pres">
      <dgm:prSet presAssocID="{D8585993-6C08-4754-8967-A1D170DC98DF}" presName="iconRect" presStyleLbl="node1" presStyleIdx="1" presStyleCnt="3" custLinFactX="-100000" custLinFactNeighborX="-167134" custLinFactNeighborY="2100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ecturer"/>
        </a:ext>
      </dgm:extLst>
    </dgm:pt>
    <dgm:pt modelId="{11F8D230-9DDF-4194-B82C-128E9D8EDF8A}" type="pres">
      <dgm:prSet presAssocID="{D8585993-6C08-4754-8967-A1D170DC98DF}" presName="spaceRect" presStyleCnt="0"/>
      <dgm:spPr/>
    </dgm:pt>
    <dgm:pt modelId="{0EF088A9-3C28-4ED8-9359-2E3B30DB877F}" type="pres">
      <dgm:prSet presAssocID="{D8585993-6C08-4754-8967-A1D170DC98DF}" presName="textRect" presStyleLbl="revTx" presStyleIdx="1" presStyleCnt="3" custScaleX="113936">
        <dgm:presLayoutVars>
          <dgm:chMax val="1"/>
          <dgm:chPref val="1"/>
        </dgm:presLayoutVars>
      </dgm:prSet>
      <dgm:spPr/>
    </dgm:pt>
    <dgm:pt modelId="{94323EC2-550B-4FA1-95B6-D623CCB9C55F}" type="pres">
      <dgm:prSet presAssocID="{D6FCECEC-3EC7-480E-9F17-8AD636479366}" presName="sibTrans" presStyleCnt="0"/>
      <dgm:spPr/>
    </dgm:pt>
    <dgm:pt modelId="{7D83F026-A151-40B0-8535-569214DAE4DE}" type="pres">
      <dgm:prSet presAssocID="{C074748B-D8A5-43E0-89A2-C9A650673785}" presName="compNode" presStyleCnt="0"/>
      <dgm:spPr/>
    </dgm:pt>
    <dgm:pt modelId="{38F1111C-A551-4ADE-8F80-D07AAD1124FB}" type="pres">
      <dgm:prSet presAssocID="{C074748B-D8A5-43E0-89A2-C9A650673785}" presName="iconRect" presStyleLbl="node1" presStyleIdx="2" presStyleCnt="3" custLinFactNeighborX="4900" custLinFactNeighborY="2215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ily Calendar"/>
        </a:ext>
      </dgm:extLst>
    </dgm:pt>
    <dgm:pt modelId="{AB852D24-AA7C-4EE3-9EF3-DC11E62BF270}" type="pres">
      <dgm:prSet presAssocID="{C074748B-D8A5-43E0-89A2-C9A650673785}" presName="spaceRect" presStyleCnt="0"/>
      <dgm:spPr/>
    </dgm:pt>
    <dgm:pt modelId="{AB31F8FF-E1F7-4025-B461-AC04499EB1FB}" type="pres">
      <dgm:prSet presAssocID="{C074748B-D8A5-43E0-89A2-C9A650673785}" presName="textRect" presStyleLbl="revTx" presStyleIdx="2" presStyleCnt="3" custLinFactNeighborX="4675" custLinFactNeighborY="-4896">
        <dgm:presLayoutVars>
          <dgm:chMax val="1"/>
          <dgm:chPref val="1"/>
        </dgm:presLayoutVars>
      </dgm:prSet>
      <dgm:spPr/>
    </dgm:pt>
  </dgm:ptLst>
  <dgm:cxnLst>
    <dgm:cxn modelId="{E00B8603-EB47-40E7-9517-DAE5A77C1342}" srcId="{D9EBD17C-39E7-4EFD-8C5D-8B07908071D8}" destId="{C074748B-D8A5-43E0-89A2-C9A650673785}" srcOrd="2" destOrd="0" parTransId="{CACEDB2D-FFF9-4004-B912-C97DFAA4C1ED}" sibTransId="{3034DCAE-1192-40C0-B194-42B8A0DD63C9}"/>
    <dgm:cxn modelId="{356C875C-9810-408E-BDAE-EAF0F0217EBD}" type="presOf" srcId="{D9EBD17C-39E7-4EFD-8C5D-8B07908071D8}" destId="{5EC3A595-E198-4F16-98C6-AC9A5326AF1B}" srcOrd="0" destOrd="0" presId="urn:microsoft.com/office/officeart/2018/2/layout/IconLabelList"/>
    <dgm:cxn modelId="{02EEBB5D-7102-4190-98E2-42495B07797F}" srcId="{D9EBD17C-39E7-4EFD-8C5D-8B07908071D8}" destId="{546C1B44-3B7E-493E-B315-CC00B29D9AB1}" srcOrd="0" destOrd="0" parTransId="{CBCF5D67-D795-4298-958D-7C26435AF13F}" sibTransId="{47D259CC-F309-4222-AB99-2D5D8F8A7CA6}"/>
    <dgm:cxn modelId="{DB468453-0FED-4D0F-B75E-B45A5C0673C0}" type="presOf" srcId="{C074748B-D8A5-43E0-89A2-C9A650673785}" destId="{AB31F8FF-E1F7-4025-B461-AC04499EB1FB}" srcOrd="0" destOrd="0" presId="urn:microsoft.com/office/officeart/2018/2/layout/IconLabelList"/>
    <dgm:cxn modelId="{EBCB5887-27F2-4C7B-B38C-F061E5C457F3}" type="presOf" srcId="{546C1B44-3B7E-493E-B315-CC00B29D9AB1}" destId="{EAF5E042-00C5-4D12-A303-F5AB876F5638}" srcOrd="0" destOrd="0" presId="urn:microsoft.com/office/officeart/2018/2/layout/IconLabelList"/>
    <dgm:cxn modelId="{7F42B3A7-9D12-44E8-B478-99E067DD0052}" type="presOf" srcId="{D8585993-6C08-4754-8967-A1D170DC98DF}" destId="{0EF088A9-3C28-4ED8-9359-2E3B30DB877F}" srcOrd="0" destOrd="0" presId="urn:microsoft.com/office/officeart/2018/2/layout/IconLabelList"/>
    <dgm:cxn modelId="{AA9DA3F8-7E7A-413D-8A65-782A8F240F1A}" srcId="{D9EBD17C-39E7-4EFD-8C5D-8B07908071D8}" destId="{D8585993-6C08-4754-8967-A1D170DC98DF}" srcOrd="1" destOrd="0" parTransId="{E2518250-477F-4A95-BFBE-612CB0681F2B}" sibTransId="{D6FCECEC-3EC7-480E-9F17-8AD636479366}"/>
    <dgm:cxn modelId="{4BDE244F-92D3-4379-B79A-D40EA21A605E}" type="presParOf" srcId="{5EC3A595-E198-4F16-98C6-AC9A5326AF1B}" destId="{7673A4CE-75F0-4919-BF64-1B6D78CC9A37}" srcOrd="0" destOrd="0" presId="urn:microsoft.com/office/officeart/2018/2/layout/IconLabelList"/>
    <dgm:cxn modelId="{8B4717B3-999B-4D9C-BE5F-3408C344428F}" type="presParOf" srcId="{7673A4CE-75F0-4919-BF64-1B6D78CC9A37}" destId="{A30CA7DC-6D20-49AA-A238-6B970CB83D49}" srcOrd="0" destOrd="0" presId="urn:microsoft.com/office/officeart/2018/2/layout/IconLabelList"/>
    <dgm:cxn modelId="{9C13CCC9-EADC-44A3-BD0E-C9ADCC0CD1AE}" type="presParOf" srcId="{7673A4CE-75F0-4919-BF64-1B6D78CC9A37}" destId="{E889FEF7-3E92-497B-A00B-F0456949C2FB}" srcOrd="1" destOrd="0" presId="urn:microsoft.com/office/officeart/2018/2/layout/IconLabelList"/>
    <dgm:cxn modelId="{6B43E28F-89E2-46C6-884F-B93ADC95D581}" type="presParOf" srcId="{7673A4CE-75F0-4919-BF64-1B6D78CC9A37}" destId="{EAF5E042-00C5-4D12-A303-F5AB876F5638}" srcOrd="2" destOrd="0" presId="urn:microsoft.com/office/officeart/2018/2/layout/IconLabelList"/>
    <dgm:cxn modelId="{1D46684B-94AB-42DC-B0A1-D3A7009B6E11}" type="presParOf" srcId="{5EC3A595-E198-4F16-98C6-AC9A5326AF1B}" destId="{DBC45660-A649-4DA7-93B4-FAE7277F3E5C}" srcOrd="1" destOrd="0" presId="urn:microsoft.com/office/officeart/2018/2/layout/IconLabelList"/>
    <dgm:cxn modelId="{2AD20AC3-7F54-4D01-9C2E-F59CB476E010}" type="presParOf" srcId="{5EC3A595-E198-4F16-98C6-AC9A5326AF1B}" destId="{83A85818-0229-471F-9397-17159FA6C451}" srcOrd="2" destOrd="0" presId="urn:microsoft.com/office/officeart/2018/2/layout/IconLabelList"/>
    <dgm:cxn modelId="{B4FC8420-14A9-4E26-9346-3BF5B4719116}" type="presParOf" srcId="{83A85818-0229-471F-9397-17159FA6C451}" destId="{B2A4880B-ED25-477C-9A96-ACF38E8C358F}" srcOrd="0" destOrd="0" presId="urn:microsoft.com/office/officeart/2018/2/layout/IconLabelList"/>
    <dgm:cxn modelId="{D5A6686E-6D07-48B0-AE01-DF8067C120E8}" type="presParOf" srcId="{83A85818-0229-471F-9397-17159FA6C451}" destId="{11F8D230-9DDF-4194-B82C-128E9D8EDF8A}" srcOrd="1" destOrd="0" presId="urn:microsoft.com/office/officeart/2018/2/layout/IconLabelList"/>
    <dgm:cxn modelId="{F85307ED-F6D9-4935-8B44-23D6BE712BD0}" type="presParOf" srcId="{83A85818-0229-471F-9397-17159FA6C451}" destId="{0EF088A9-3C28-4ED8-9359-2E3B30DB877F}" srcOrd="2" destOrd="0" presId="urn:microsoft.com/office/officeart/2018/2/layout/IconLabelList"/>
    <dgm:cxn modelId="{175725CC-BAF5-4257-837A-9975CF47A117}" type="presParOf" srcId="{5EC3A595-E198-4F16-98C6-AC9A5326AF1B}" destId="{94323EC2-550B-4FA1-95B6-D623CCB9C55F}" srcOrd="3" destOrd="0" presId="urn:microsoft.com/office/officeart/2018/2/layout/IconLabelList"/>
    <dgm:cxn modelId="{A60D5FD2-F115-4AD1-8490-3E55C182E069}" type="presParOf" srcId="{5EC3A595-E198-4F16-98C6-AC9A5326AF1B}" destId="{7D83F026-A151-40B0-8535-569214DAE4DE}" srcOrd="4" destOrd="0" presId="urn:microsoft.com/office/officeart/2018/2/layout/IconLabelList"/>
    <dgm:cxn modelId="{364507CE-4242-490A-9F29-62D89DABA41E}" type="presParOf" srcId="{7D83F026-A151-40B0-8535-569214DAE4DE}" destId="{38F1111C-A551-4ADE-8F80-D07AAD1124FB}" srcOrd="0" destOrd="0" presId="urn:microsoft.com/office/officeart/2018/2/layout/IconLabelList"/>
    <dgm:cxn modelId="{E4F698B6-4CF0-445B-8E2B-74BFF8163D5D}" type="presParOf" srcId="{7D83F026-A151-40B0-8535-569214DAE4DE}" destId="{AB852D24-AA7C-4EE3-9EF3-DC11E62BF270}" srcOrd="1" destOrd="0" presId="urn:microsoft.com/office/officeart/2018/2/layout/IconLabelList"/>
    <dgm:cxn modelId="{F91F2BA9-6E82-4BD1-9257-2F9244A375F6}" type="presParOf" srcId="{7D83F026-A151-40B0-8535-569214DAE4DE}" destId="{AB31F8FF-E1F7-4025-B461-AC04499EB1FB}"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0CA7DC-6D20-49AA-A238-6B970CB83D49}">
      <dsp:nvSpPr>
        <dsp:cNvPr id="0" name=""/>
        <dsp:cNvSpPr/>
      </dsp:nvSpPr>
      <dsp:spPr>
        <a:xfrm>
          <a:off x="5169434" y="629718"/>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F5E042-00C5-4D12-A303-F5AB876F5638}">
      <dsp:nvSpPr>
        <dsp:cNvPr id="0" name=""/>
        <dsp:cNvSpPr/>
      </dsp:nvSpPr>
      <dsp:spPr>
        <a:xfrm>
          <a:off x="2531611" y="1522098"/>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GB" sz="2100" b="1" kern="1200" dirty="0"/>
            <a:t>Student: Nyran Abraham Tahija</a:t>
          </a:r>
          <a:endParaRPr lang="en-US" sz="2100" kern="1200" dirty="0"/>
        </a:p>
      </dsp:txBody>
      <dsp:txXfrm>
        <a:off x="2531611" y="1522098"/>
        <a:ext cx="1800000" cy="720000"/>
      </dsp:txXfrm>
    </dsp:sp>
    <dsp:sp modelId="{B2A4880B-ED25-477C-9A96-ACF38E8C358F}">
      <dsp:nvSpPr>
        <dsp:cNvPr id="0" name=""/>
        <dsp:cNvSpPr/>
      </dsp:nvSpPr>
      <dsp:spPr>
        <a:xfrm>
          <a:off x="3103250" y="612214"/>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F088A9-3C28-4ED8-9359-2E3B30DB877F}">
      <dsp:nvSpPr>
        <dsp:cNvPr id="0" name=""/>
        <dsp:cNvSpPr/>
      </dsp:nvSpPr>
      <dsp:spPr>
        <a:xfrm>
          <a:off x="4646611" y="1522098"/>
          <a:ext cx="2050848"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GB" sz="2100" b="1" kern="1200" dirty="0"/>
            <a:t>Lecturer: </a:t>
          </a:r>
          <a:r>
            <a:rPr lang="en-GB" sz="2100" b="1" kern="1200" dirty="0" err="1"/>
            <a:t>Dr.</a:t>
          </a:r>
          <a:r>
            <a:rPr lang="en-GB" sz="2100" b="1" kern="1200" dirty="0"/>
            <a:t> Pankaj Kumar</a:t>
          </a:r>
          <a:endParaRPr lang="en-US" sz="2100" kern="1200" dirty="0"/>
        </a:p>
      </dsp:txBody>
      <dsp:txXfrm>
        <a:off x="4646611" y="1522098"/>
        <a:ext cx="2050848" cy="720000"/>
      </dsp:txXfrm>
    </dsp:sp>
    <dsp:sp modelId="{38F1111C-A551-4ADE-8F80-D07AAD1124FB}">
      <dsp:nvSpPr>
        <dsp:cNvPr id="0" name=""/>
        <dsp:cNvSpPr/>
      </dsp:nvSpPr>
      <dsp:spPr>
        <a:xfrm>
          <a:off x="7547150" y="621529"/>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B31F8FF-E1F7-4025-B461-AC04499EB1FB}">
      <dsp:nvSpPr>
        <dsp:cNvPr id="0" name=""/>
        <dsp:cNvSpPr/>
      </dsp:nvSpPr>
      <dsp:spPr>
        <a:xfrm>
          <a:off x="7096610" y="1486847"/>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PG" sz="2100" b="1" kern="1200" dirty="0"/>
            <a:t>Date</a:t>
          </a:r>
          <a:r>
            <a:rPr lang="en-GB" sz="2100" b="1" kern="1200" dirty="0"/>
            <a:t>: 18/02/2025</a:t>
          </a:r>
          <a:endParaRPr lang="en-US" sz="2100" kern="1200" dirty="0"/>
        </a:p>
      </dsp:txBody>
      <dsp:txXfrm>
        <a:off x="7096610" y="1486847"/>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C8D36C-E31E-49CD-AAD8-6837283223C7}" type="datetimeFigureOut">
              <a:rPr lang="en-PG" smtClean="0"/>
              <a:t>19/02/2025</a:t>
            </a:fld>
            <a:endParaRPr lang="en-P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5B295F-9877-40B6-9C34-6A9EA2B6FF8E}" type="slidenum">
              <a:rPr lang="en-PG" smtClean="0"/>
              <a:t>‹#›</a:t>
            </a:fld>
            <a:endParaRPr lang="en-PG"/>
          </a:p>
        </p:txBody>
      </p:sp>
    </p:spTree>
    <p:extLst>
      <p:ext uri="{BB962C8B-B14F-4D97-AF65-F5344CB8AC3E}">
        <p14:creationId xmlns:p14="http://schemas.microsoft.com/office/powerpoint/2010/main" val="786545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G" dirty="0"/>
          </a:p>
        </p:txBody>
      </p:sp>
      <p:sp>
        <p:nvSpPr>
          <p:cNvPr id="4" name="Slide Number Placeholder 3"/>
          <p:cNvSpPr>
            <a:spLocks noGrp="1"/>
          </p:cNvSpPr>
          <p:nvPr>
            <p:ph type="sldNum" sz="quarter" idx="5"/>
          </p:nvPr>
        </p:nvSpPr>
        <p:spPr/>
        <p:txBody>
          <a:bodyPr/>
          <a:lstStyle/>
          <a:p>
            <a:fld id="{635B295F-9877-40B6-9C34-6A9EA2B6FF8E}" type="slidenum">
              <a:rPr lang="en-PG" smtClean="0"/>
              <a:t>5</a:t>
            </a:fld>
            <a:endParaRPr lang="en-PG"/>
          </a:p>
        </p:txBody>
      </p:sp>
    </p:spTree>
    <p:extLst>
      <p:ext uri="{BB962C8B-B14F-4D97-AF65-F5344CB8AC3E}">
        <p14:creationId xmlns:p14="http://schemas.microsoft.com/office/powerpoint/2010/main" val="4262588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G" dirty="0"/>
          </a:p>
        </p:txBody>
      </p:sp>
      <p:sp>
        <p:nvSpPr>
          <p:cNvPr id="4" name="Slide Number Placeholder 3"/>
          <p:cNvSpPr>
            <a:spLocks noGrp="1"/>
          </p:cNvSpPr>
          <p:nvPr>
            <p:ph type="sldNum" sz="quarter" idx="5"/>
          </p:nvPr>
        </p:nvSpPr>
        <p:spPr/>
        <p:txBody>
          <a:bodyPr/>
          <a:lstStyle/>
          <a:p>
            <a:fld id="{635B295F-9877-40B6-9C34-6A9EA2B6FF8E}" type="slidenum">
              <a:rPr lang="en-PG" smtClean="0"/>
              <a:t>9</a:t>
            </a:fld>
            <a:endParaRPr lang="en-PG"/>
          </a:p>
        </p:txBody>
      </p:sp>
    </p:spTree>
    <p:extLst>
      <p:ext uri="{BB962C8B-B14F-4D97-AF65-F5344CB8AC3E}">
        <p14:creationId xmlns:p14="http://schemas.microsoft.com/office/powerpoint/2010/main" val="4151261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E07A9-E56D-03F4-495C-C1048FBE0E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G"/>
          </a:p>
        </p:txBody>
      </p:sp>
      <p:sp>
        <p:nvSpPr>
          <p:cNvPr id="3" name="Subtitle 2">
            <a:extLst>
              <a:ext uri="{FF2B5EF4-FFF2-40B4-BE49-F238E27FC236}">
                <a16:creationId xmlns:a16="http://schemas.microsoft.com/office/drawing/2014/main" id="{2B13C1BF-6E3A-28BC-F8C5-F48CB11CF5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G"/>
          </a:p>
        </p:txBody>
      </p:sp>
      <p:sp>
        <p:nvSpPr>
          <p:cNvPr id="4" name="Date Placeholder 3">
            <a:extLst>
              <a:ext uri="{FF2B5EF4-FFF2-40B4-BE49-F238E27FC236}">
                <a16:creationId xmlns:a16="http://schemas.microsoft.com/office/drawing/2014/main" id="{77D1EAD9-9D5B-37C9-EBB3-C1FF6B74C70D}"/>
              </a:ext>
            </a:extLst>
          </p:cNvPr>
          <p:cNvSpPr>
            <a:spLocks noGrp="1"/>
          </p:cNvSpPr>
          <p:nvPr>
            <p:ph type="dt" sz="half" idx="10"/>
          </p:nvPr>
        </p:nvSpPr>
        <p:spPr/>
        <p:txBody>
          <a:bodyPr/>
          <a:lstStyle/>
          <a:p>
            <a:fld id="{D9F128AF-B84E-414E-B0B7-1188AE8C82BD}" type="datetimeFigureOut">
              <a:rPr lang="en-PG" smtClean="0"/>
              <a:t>19/02/2025</a:t>
            </a:fld>
            <a:endParaRPr lang="en-PG"/>
          </a:p>
        </p:txBody>
      </p:sp>
      <p:sp>
        <p:nvSpPr>
          <p:cNvPr id="5" name="Footer Placeholder 4">
            <a:extLst>
              <a:ext uri="{FF2B5EF4-FFF2-40B4-BE49-F238E27FC236}">
                <a16:creationId xmlns:a16="http://schemas.microsoft.com/office/drawing/2014/main" id="{5324B366-EFAC-6718-3FA1-44A4A0891B73}"/>
              </a:ext>
            </a:extLst>
          </p:cNvPr>
          <p:cNvSpPr>
            <a:spLocks noGrp="1"/>
          </p:cNvSpPr>
          <p:nvPr>
            <p:ph type="ftr" sz="quarter" idx="11"/>
          </p:nvPr>
        </p:nvSpPr>
        <p:spPr/>
        <p:txBody>
          <a:bodyPr/>
          <a:lstStyle/>
          <a:p>
            <a:endParaRPr lang="en-PG"/>
          </a:p>
        </p:txBody>
      </p:sp>
      <p:sp>
        <p:nvSpPr>
          <p:cNvPr id="6" name="Slide Number Placeholder 5">
            <a:extLst>
              <a:ext uri="{FF2B5EF4-FFF2-40B4-BE49-F238E27FC236}">
                <a16:creationId xmlns:a16="http://schemas.microsoft.com/office/drawing/2014/main" id="{474E5A80-035B-CBC4-7677-EEC12C8CC4C6}"/>
              </a:ext>
            </a:extLst>
          </p:cNvPr>
          <p:cNvSpPr>
            <a:spLocks noGrp="1"/>
          </p:cNvSpPr>
          <p:nvPr>
            <p:ph type="sldNum" sz="quarter" idx="12"/>
          </p:nvPr>
        </p:nvSpPr>
        <p:spPr/>
        <p:txBody>
          <a:bodyPr/>
          <a:lstStyle/>
          <a:p>
            <a:fld id="{B0245E6B-9DE8-49E0-AFA3-0E1A18C61EAF}" type="slidenum">
              <a:rPr lang="en-PG" smtClean="0"/>
              <a:t>‹#›</a:t>
            </a:fld>
            <a:endParaRPr lang="en-PG"/>
          </a:p>
        </p:txBody>
      </p:sp>
    </p:spTree>
    <p:extLst>
      <p:ext uri="{BB962C8B-B14F-4D97-AF65-F5344CB8AC3E}">
        <p14:creationId xmlns:p14="http://schemas.microsoft.com/office/powerpoint/2010/main" val="3131847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61D6A-E870-9C91-CBF1-386A11A04D39}"/>
              </a:ext>
            </a:extLst>
          </p:cNvPr>
          <p:cNvSpPr>
            <a:spLocks noGrp="1"/>
          </p:cNvSpPr>
          <p:nvPr>
            <p:ph type="title"/>
          </p:nvPr>
        </p:nvSpPr>
        <p:spPr/>
        <p:txBody>
          <a:bodyPr/>
          <a:lstStyle/>
          <a:p>
            <a:r>
              <a:rPr lang="en-US"/>
              <a:t>Click to edit Master title style</a:t>
            </a:r>
            <a:endParaRPr lang="en-PG"/>
          </a:p>
        </p:txBody>
      </p:sp>
      <p:sp>
        <p:nvSpPr>
          <p:cNvPr id="3" name="Content Placeholder 2">
            <a:extLst>
              <a:ext uri="{FF2B5EF4-FFF2-40B4-BE49-F238E27FC236}">
                <a16:creationId xmlns:a16="http://schemas.microsoft.com/office/drawing/2014/main" id="{DECDE147-29B2-A722-0E0B-1043537D29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G"/>
          </a:p>
        </p:txBody>
      </p:sp>
      <p:sp>
        <p:nvSpPr>
          <p:cNvPr id="4" name="Date Placeholder 3">
            <a:extLst>
              <a:ext uri="{FF2B5EF4-FFF2-40B4-BE49-F238E27FC236}">
                <a16:creationId xmlns:a16="http://schemas.microsoft.com/office/drawing/2014/main" id="{59F4A7BC-AFF5-BE14-1E8C-FC2AB6E8C08F}"/>
              </a:ext>
            </a:extLst>
          </p:cNvPr>
          <p:cNvSpPr>
            <a:spLocks noGrp="1"/>
          </p:cNvSpPr>
          <p:nvPr>
            <p:ph type="dt" sz="half" idx="10"/>
          </p:nvPr>
        </p:nvSpPr>
        <p:spPr/>
        <p:txBody>
          <a:bodyPr/>
          <a:lstStyle/>
          <a:p>
            <a:fld id="{D9F128AF-B84E-414E-B0B7-1188AE8C82BD}" type="datetimeFigureOut">
              <a:rPr lang="en-PG" smtClean="0"/>
              <a:t>19/02/2025</a:t>
            </a:fld>
            <a:endParaRPr lang="en-PG"/>
          </a:p>
        </p:txBody>
      </p:sp>
      <p:sp>
        <p:nvSpPr>
          <p:cNvPr id="5" name="Footer Placeholder 4">
            <a:extLst>
              <a:ext uri="{FF2B5EF4-FFF2-40B4-BE49-F238E27FC236}">
                <a16:creationId xmlns:a16="http://schemas.microsoft.com/office/drawing/2014/main" id="{CE139625-1094-F770-052A-69458E45A2A5}"/>
              </a:ext>
            </a:extLst>
          </p:cNvPr>
          <p:cNvSpPr>
            <a:spLocks noGrp="1"/>
          </p:cNvSpPr>
          <p:nvPr>
            <p:ph type="ftr" sz="quarter" idx="11"/>
          </p:nvPr>
        </p:nvSpPr>
        <p:spPr/>
        <p:txBody>
          <a:bodyPr/>
          <a:lstStyle/>
          <a:p>
            <a:endParaRPr lang="en-PG"/>
          </a:p>
        </p:txBody>
      </p:sp>
      <p:sp>
        <p:nvSpPr>
          <p:cNvPr id="6" name="Slide Number Placeholder 5">
            <a:extLst>
              <a:ext uri="{FF2B5EF4-FFF2-40B4-BE49-F238E27FC236}">
                <a16:creationId xmlns:a16="http://schemas.microsoft.com/office/drawing/2014/main" id="{BD68FF5D-B037-F41C-ABB5-5B07868474E1}"/>
              </a:ext>
            </a:extLst>
          </p:cNvPr>
          <p:cNvSpPr>
            <a:spLocks noGrp="1"/>
          </p:cNvSpPr>
          <p:nvPr>
            <p:ph type="sldNum" sz="quarter" idx="12"/>
          </p:nvPr>
        </p:nvSpPr>
        <p:spPr/>
        <p:txBody>
          <a:bodyPr/>
          <a:lstStyle/>
          <a:p>
            <a:fld id="{B0245E6B-9DE8-49E0-AFA3-0E1A18C61EAF}" type="slidenum">
              <a:rPr lang="en-PG" smtClean="0"/>
              <a:t>‹#›</a:t>
            </a:fld>
            <a:endParaRPr lang="en-PG"/>
          </a:p>
        </p:txBody>
      </p:sp>
    </p:spTree>
    <p:extLst>
      <p:ext uri="{BB962C8B-B14F-4D97-AF65-F5344CB8AC3E}">
        <p14:creationId xmlns:p14="http://schemas.microsoft.com/office/powerpoint/2010/main" val="3349796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2BE08-B599-41E5-17B3-BAB706602D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G"/>
          </a:p>
        </p:txBody>
      </p:sp>
      <p:sp>
        <p:nvSpPr>
          <p:cNvPr id="3" name="Text Placeholder 2">
            <a:extLst>
              <a:ext uri="{FF2B5EF4-FFF2-40B4-BE49-F238E27FC236}">
                <a16:creationId xmlns:a16="http://schemas.microsoft.com/office/drawing/2014/main" id="{0DC56CFB-8BEA-3F69-FB71-C5C52CA80F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6E5383-468C-48A8-3FEB-26FBA633ED91}"/>
              </a:ext>
            </a:extLst>
          </p:cNvPr>
          <p:cNvSpPr>
            <a:spLocks noGrp="1"/>
          </p:cNvSpPr>
          <p:nvPr>
            <p:ph type="dt" sz="half" idx="10"/>
          </p:nvPr>
        </p:nvSpPr>
        <p:spPr/>
        <p:txBody>
          <a:bodyPr/>
          <a:lstStyle/>
          <a:p>
            <a:fld id="{D9F128AF-B84E-414E-B0B7-1188AE8C82BD}" type="datetimeFigureOut">
              <a:rPr lang="en-PG" smtClean="0"/>
              <a:t>19/02/2025</a:t>
            </a:fld>
            <a:endParaRPr lang="en-PG"/>
          </a:p>
        </p:txBody>
      </p:sp>
      <p:sp>
        <p:nvSpPr>
          <p:cNvPr id="5" name="Footer Placeholder 4">
            <a:extLst>
              <a:ext uri="{FF2B5EF4-FFF2-40B4-BE49-F238E27FC236}">
                <a16:creationId xmlns:a16="http://schemas.microsoft.com/office/drawing/2014/main" id="{A82CC744-FEDA-35AB-1384-9612E9A689A4}"/>
              </a:ext>
            </a:extLst>
          </p:cNvPr>
          <p:cNvSpPr>
            <a:spLocks noGrp="1"/>
          </p:cNvSpPr>
          <p:nvPr>
            <p:ph type="ftr" sz="quarter" idx="11"/>
          </p:nvPr>
        </p:nvSpPr>
        <p:spPr/>
        <p:txBody>
          <a:bodyPr/>
          <a:lstStyle/>
          <a:p>
            <a:endParaRPr lang="en-PG"/>
          </a:p>
        </p:txBody>
      </p:sp>
      <p:sp>
        <p:nvSpPr>
          <p:cNvPr id="6" name="Slide Number Placeholder 5">
            <a:extLst>
              <a:ext uri="{FF2B5EF4-FFF2-40B4-BE49-F238E27FC236}">
                <a16:creationId xmlns:a16="http://schemas.microsoft.com/office/drawing/2014/main" id="{BEF0A61A-9316-7A46-4570-AE5A68C393C9}"/>
              </a:ext>
            </a:extLst>
          </p:cNvPr>
          <p:cNvSpPr>
            <a:spLocks noGrp="1"/>
          </p:cNvSpPr>
          <p:nvPr>
            <p:ph type="sldNum" sz="quarter" idx="12"/>
          </p:nvPr>
        </p:nvSpPr>
        <p:spPr/>
        <p:txBody>
          <a:bodyPr/>
          <a:lstStyle/>
          <a:p>
            <a:fld id="{B0245E6B-9DE8-49E0-AFA3-0E1A18C61EAF}" type="slidenum">
              <a:rPr lang="en-PG" smtClean="0"/>
              <a:t>‹#›</a:t>
            </a:fld>
            <a:endParaRPr lang="en-PG"/>
          </a:p>
        </p:txBody>
      </p:sp>
    </p:spTree>
    <p:extLst>
      <p:ext uri="{BB962C8B-B14F-4D97-AF65-F5344CB8AC3E}">
        <p14:creationId xmlns:p14="http://schemas.microsoft.com/office/powerpoint/2010/main" val="1792314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DEF2D-1080-F1C8-ABD1-5361D934C028}"/>
              </a:ext>
            </a:extLst>
          </p:cNvPr>
          <p:cNvSpPr>
            <a:spLocks noGrp="1"/>
          </p:cNvSpPr>
          <p:nvPr>
            <p:ph type="title"/>
          </p:nvPr>
        </p:nvSpPr>
        <p:spPr/>
        <p:txBody>
          <a:bodyPr/>
          <a:lstStyle/>
          <a:p>
            <a:r>
              <a:rPr lang="en-US"/>
              <a:t>Click to edit Master title style</a:t>
            </a:r>
            <a:endParaRPr lang="en-PG"/>
          </a:p>
        </p:txBody>
      </p:sp>
      <p:sp>
        <p:nvSpPr>
          <p:cNvPr id="3" name="Content Placeholder 2">
            <a:extLst>
              <a:ext uri="{FF2B5EF4-FFF2-40B4-BE49-F238E27FC236}">
                <a16:creationId xmlns:a16="http://schemas.microsoft.com/office/drawing/2014/main" id="{CF1A085F-87C2-3AB4-91C6-580C9E4B63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G"/>
          </a:p>
        </p:txBody>
      </p:sp>
      <p:sp>
        <p:nvSpPr>
          <p:cNvPr id="4" name="Content Placeholder 3">
            <a:extLst>
              <a:ext uri="{FF2B5EF4-FFF2-40B4-BE49-F238E27FC236}">
                <a16:creationId xmlns:a16="http://schemas.microsoft.com/office/drawing/2014/main" id="{4847BA00-477E-B168-3F5C-80043ED632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G"/>
          </a:p>
        </p:txBody>
      </p:sp>
      <p:sp>
        <p:nvSpPr>
          <p:cNvPr id="5" name="Date Placeholder 4">
            <a:extLst>
              <a:ext uri="{FF2B5EF4-FFF2-40B4-BE49-F238E27FC236}">
                <a16:creationId xmlns:a16="http://schemas.microsoft.com/office/drawing/2014/main" id="{AE88D4E9-CB35-0967-BC45-DF02F41CD943}"/>
              </a:ext>
            </a:extLst>
          </p:cNvPr>
          <p:cNvSpPr>
            <a:spLocks noGrp="1"/>
          </p:cNvSpPr>
          <p:nvPr>
            <p:ph type="dt" sz="half" idx="10"/>
          </p:nvPr>
        </p:nvSpPr>
        <p:spPr/>
        <p:txBody>
          <a:bodyPr/>
          <a:lstStyle/>
          <a:p>
            <a:fld id="{D9F128AF-B84E-414E-B0B7-1188AE8C82BD}" type="datetimeFigureOut">
              <a:rPr lang="en-PG" smtClean="0"/>
              <a:t>19/02/2025</a:t>
            </a:fld>
            <a:endParaRPr lang="en-PG"/>
          </a:p>
        </p:txBody>
      </p:sp>
      <p:sp>
        <p:nvSpPr>
          <p:cNvPr id="6" name="Footer Placeholder 5">
            <a:extLst>
              <a:ext uri="{FF2B5EF4-FFF2-40B4-BE49-F238E27FC236}">
                <a16:creationId xmlns:a16="http://schemas.microsoft.com/office/drawing/2014/main" id="{FEF1D114-7BDB-175C-065E-4DA44C5BE94E}"/>
              </a:ext>
            </a:extLst>
          </p:cNvPr>
          <p:cNvSpPr>
            <a:spLocks noGrp="1"/>
          </p:cNvSpPr>
          <p:nvPr>
            <p:ph type="ftr" sz="quarter" idx="11"/>
          </p:nvPr>
        </p:nvSpPr>
        <p:spPr/>
        <p:txBody>
          <a:bodyPr/>
          <a:lstStyle/>
          <a:p>
            <a:endParaRPr lang="en-PG"/>
          </a:p>
        </p:txBody>
      </p:sp>
      <p:sp>
        <p:nvSpPr>
          <p:cNvPr id="7" name="Slide Number Placeholder 6">
            <a:extLst>
              <a:ext uri="{FF2B5EF4-FFF2-40B4-BE49-F238E27FC236}">
                <a16:creationId xmlns:a16="http://schemas.microsoft.com/office/drawing/2014/main" id="{1AFFA22B-EC78-E39E-A397-516AE990C56A}"/>
              </a:ext>
            </a:extLst>
          </p:cNvPr>
          <p:cNvSpPr>
            <a:spLocks noGrp="1"/>
          </p:cNvSpPr>
          <p:nvPr>
            <p:ph type="sldNum" sz="quarter" idx="12"/>
          </p:nvPr>
        </p:nvSpPr>
        <p:spPr/>
        <p:txBody>
          <a:bodyPr/>
          <a:lstStyle/>
          <a:p>
            <a:fld id="{B0245E6B-9DE8-49E0-AFA3-0E1A18C61EAF}" type="slidenum">
              <a:rPr lang="en-PG" smtClean="0"/>
              <a:t>‹#›</a:t>
            </a:fld>
            <a:endParaRPr lang="en-PG"/>
          </a:p>
        </p:txBody>
      </p:sp>
    </p:spTree>
    <p:extLst>
      <p:ext uri="{BB962C8B-B14F-4D97-AF65-F5344CB8AC3E}">
        <p14:creationId xmlns:p14="http://schemas.microsoft.com/office/powerpoint/2010/main" val="3856890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EDFF3-DA56-E82B-DD75-1C4F280ED46B}"/>
              </a:ext>
            </a:extLst>
          </p:cNvPr>
          <p:cNvSpPr>
            <a:spLocks noGrp="1"/>
          </p:cNvSpPr>
          <p:nvPr>
            <p:ph type="title"/>
          </p:nvPr>
        </p:nvSpPr>
        <p:spPr>
          <a:xfrm>
            <a:off x="839788" y="365125"/>
            <a:ext cx="10515600" cy="1325563"/>
          </a:xfrm>
        </p:spPr>
        <p:txBody>
          <a:bodyPr/>
          <a:lstStyle/>
          <a:p>
            <a:r>
              <a:rPr lang="en-US"/>
              <a:t>Click to edit Master title style</a:t>
            </a:r>
            <a:endParaRPr lang="en-PG"/>
          </a:p>
        </p:txBody>
      </p:sp>
      <p:sp>
        <p:nvSpPr>
          <p:cNvPr id="3" name="Text Placeholder 2">
            <a:extLst>
              <a:ext uri="{FF2B5EF4-FFF2-40B4-BE49-F238E27FC236}">
                <a16:creationId xmlns:a16="http://schemas.microsoft.com/office/drawing/2014/main" id="{608726E6-F233-F64E-5504-6E6B52C330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791705-AFD9-F215-4A9A-30C78A8A76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G"/>
          </a:p>
        </p:txBody>
      </p:sp>
      <p:sp>
        <p:nvSpPr>
          <p:cNvPr id="5" name="Text Placeholder 4">
            <a:extLst>
              <a:ext uri="{FF2B5EF4-FFF2-40B4-BE49-F238E27FC236}">
                <a16:creationId xmlns:a16="http://schemas.microsoft.com/office/drawing/2014/main" id="{13052B18-D036-C9FB-6844-9F8F3753D0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161AF2-CC4D-EE42-7C21-63C99BB6F5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G"/>
          </a:p>
        </p:txBody>
      </p:sp>
      <p:sp>
        <p:nvSpPr>
          <p:cNvPr id="7" name="Date Placeholder 6">
            <a:extLst>
              <a:ext uri="{FF2B5EF4-FFF2-40B4-BE49-F238E27FC236}">
                <a16:creationId xmlns:a16="http://schemas.microsoft.com/office/drawing/2014/main" id="{C79214F9-A3CB-A238-6D62-D17A2E7F2C2F}"/>
              </a:ext>
            </a:extLst>
          </p:cNvPr>
          <p:cNvSpPr>
            <a:spLocks noGrp="1"/>
          </p:cNvSpPr>
          <p:nvPr>
            <p:ph type="dt" sz="half" idx="10"/>
          </p:nvPr>
        </p:nvSpPr>
        <p:spPr/>
        <p:txBody>
          <a:bodyPr/>
          <a:lstStyle/>
          <a:p>
            <a:fld id="{D9F128AF-B84E-414E-B0B7-1188AE8C82BD}" type="datetimeFigureOut">
              <a:rPr lang="en-PG" smtClean="0"/>
              <a:t>19/02/2025</a:t>
            </a:fld>
            <a:endParaRPr lang="en-PG"/>
          </a:p>
        </p:txBody>
      </p:sp>
      <p:sp>
        <p:nvSpPr>
          <p:cNvPr id="8" name="Footer Placeholder 7">
            <a:extLst>
              <a:ext uri="{FF2B5EF4-FFF2-40B4-BE49-F238E27FC236}">
                <a16:creationId xmlns:a16="http://schemas.microsoft.com/office/drawing/2014/main" id="{1D3809C5-D6CC-8BCD-325C-19AAE31774A8}"/>
              </a:ext>
            </a:extLst>
          </p:cNvPr>
          <p:cNvSpPr>
            <a:spLocks noGrp="1"/>
          </p:cNvSpPr>
          <p:nvPr>
            <p:ph type="ftr" sz="quarter" idx="11"/>
          </p:nvPr>
        </p:nvSpPr>
        <p:spPr/>
        <p:txBody>
          <a:bodyPr/>
          <a:lstStyle/>
          <a:p>
            <a:endParaRPr lang="en-PG"/>
          </a:p>
        </p:txBody>
      </p:sp>
      <p:sp>
        <p:nvSpPr>
          <p:cNvPr id="9" name="Slide Number Placeholder 8">
            <a:extLst>
              <a:ext uri="{FF2B5EF4-FFF2-40B4-BE49-F238E27FC236}">
                <a16:creationId xmlns:a16="http://schemas.microsoft.com/office/drawing/2014/main" id="{C88B0111-F920-C7D4-45D4-8148F7BDD0BE}"/>
              </a:ext>
            </a:extLst>
          </p:cNvPr>
          <p:cNvSpPr>
            <a:spLocks noGrp="1"/>
          </p:cNvSpPr>
          <p:nvPr>
            <p:ph type="sldNum" sz="quarter" idx="12"/>
          </p:nvPr>
        </p:nvSpPr>
        <p:spPr/>
        <p:txBody>
          <a:bodyPr/>
          <a:lstStyle/>
          <a:p>
            <a:fld id="{B0245E6B-9DE8-49E0-AFA3-0E1A18C61EAF}" type="slidenum">
              <a:rPr lang="en-PG" smtClean="0"/>
              <a:t>‹#›</a:t>
            </a:fld>
            <a:endParaRPr lang="en-PG"/>
          </a:p>
        </p:txBody>
      </p:sp>
    </p:spTree>
    <p:extLst>
      <p:ext uri="{BB962C8B-B14F-4D97-AF65-F5344CB8AC3E}">
        <p14:creationId xmlns:p14="http://schemas.microsoft.com/office/powerpoint/2010/main" val="994148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B1F1A-4F3C-68B0-3BD3-41257AC67431}"/>
              </a:ext>
            </a:extLst>
          </p:cNvPr>
          <p:cNvSpPr>
            <a:spLocks noGrp="1"/>
          </p:cNvSpPr>
          <p:nvPr>
            <p:ph type="title"/>
          </p:nvPr>
        </p:nvSpPr>
        <p:spPr/>
        <p:txBody>
          <a:bodyPr/>
          <a:lstStyle/>
          <a:p>
            <a:r>
              <a:rPr lang="en-US"/>
              <a:t>Click to edit Master title style</a:t>
            </a:r>
            <a:endParaRPr lang="en-PG"/>
          </a:p>
        </p:txBody>
      </p:sp>
      <p:sp>
        <p:nvSpPr>
          <p:cNvPr id="3" name="Date Placeholder 2">
            <a:extLst>
              <a:ext uri="{FF2B5EF4-FFF2-40B4-BE49-F238E27FC236}">
                <a16:creationId xmlns:a16="http://schemas.microsoft.com/office/drawing/2014/main" id="{BEF0BB21-6502-5767-173E-A2512AAAF09D}"/>
              </a:ext>
            </a:extLst>
          </p:cNvPr>
          <p:cNvSpPr>
            <a:spLocks noGrp="1"/>
          </p:cNvSpPr>
          <p:nvPr>
            <p:ph type="dt" sz="half" idx="10"/>
          </p:nvPr>
        </p:nvSpPr>
        <p:spPr/>
        <p:txBody>
          <a:bodyPr/>
          <a:lstStyle/>
          <a:p>
            <a:fld id="{D9F128AF-B84E-414E-B0B7-1188AE8C82BD}" type="datetimeFigureOut">
              <a:rPr lang="en-PG" smtClean="0"/>
              <a:t>19/02/2025</a:t>
            </a:fld>
            <a:endParaRPr lang="en-PG"/>
          </a:p>
        </p:txBody>
      </p:sp>
      <p:sp>
        <p:nvSpPr>
          <p:cNvPr id="4" name="Footer Placeholder 3">
            <a:extLst>
              <a:ext uri="{FF2B5EF4-FFF2-40B4-BE49-F238E27FC236}">
                <a16:creationId xmlns:a16="http://schemas.microsoft.com/office/drawing/2014/main" id="{72E975F0-2F31-6E18-8315-D81C29F29268}"/>
              </a:ext>
            </a:extLst>
          </p:cNvPr>
          <p:cNvSpPr>
            <a:spLocks noGrp="1"/>
          </p:cNvSpPr>
          <p:nvPr>
            <p:ph type="ftr" sz="quarter" idx="11"/>
          </p:nvPr>
        </p:nvSpPr>
        <p:spPr/>
        <p:txBody>
          <a:bodyPr/>
          <a:lstStyle/>
          <a:p>
            <a:endParaRPr lang="en-PG"/>
          </a:p>
        </p:txBody>
      </p:sp>
      <p:sp>
        <p:nvSpPr>
          <p:cNvPr id="5" name="Slide Number Placeholder 4">
            <a:extLst>
              <a:ext uri="{FF2B5EF4-FFF2-40B4-BE49-F238E27FC236}">
                <a16:creationId xmlns:a16="http://schemas.microsoft.com/office/drawing/2014/main" id="{5FADBACC-7152-DE1A-4690-FC6EF2C1E049}"/>
              </a:ext>
            </a:extLst>
          </p:cNvPr>
          <p:cNvSpPr>
            <a:spLocks noGrp="1"/>
          </p:cNvSpPr>
          <p:nvPr>
            <p:ph type="sldNum" sz="quarter" idx="12"/>
          </p:nvPr>
        </p:nvSpPr>
        <p:spPr/>
        <p:txBody>
          <a:bodyPr/>
          <a:lstStyle/>
          <a:p>
            <a:fld id="{B0245E6B-9DE8-49E0-AFA3-0E1A18C61EAF}" type="slidenum">
              <a:rPr lang="en-PG" smtClean="0"/>
              <a:t>‹#›</a:t>
            </a:fld>
            <a:endParaRPr lang="en-PG"/>
          </a:p>
        </p:txBody>
      </p:sp>
    </p:spTree>
    <p:extLst>
      <p:ext uri="{BB962C8B-B14F-4D97-AF65-F5344CB8AC3E}">
        <p14:creationId xmlns:p14="http://schemas.microsoft.com/office/powerpoint/2010/main" val="619434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F089C-3AF7-C2A1-3CA5-64986761792B}"/>
              </a:ext>
            </a:extLst>
          </p:cNvPr>
          <p:cNvSpPr>
            <a:spLocks noGrp="1"/>
          </p:cNvSpPr>
          <p:nvPr>
            <p:ph type="dt" sz="half" idx="10"/>
          </p:nvPr>
        </p:nvSpPr>
        <p:spPr/>
        <p:txBody>
          <a:bodyPr/>
          <a:lstStyle/>
          <a:p>
            <a:fld id="{D9F128AF-B84E-414E-B0B7-1188AE8C82BD}" type="datetimeFigureOut">
              <a:rPr lang="en-PG" smtClean="0"/>
              <a:t>19/02/2025</a:t>
            </a:fld>
            <a:endParaRPr lang="en-PG"/>
          </a:p>
        </p:txBody>
      </p:sp>
      <p:sp>
        <p:nvSpPr>
          <p:cNvPr id="3" name="Footer Placeholder 2">
            <a:extLst>
              <a:ext uri="{FF2B5EF4-FFF2-40B4-BE49-F238E27FC236}">
                <a16:creationId xmlns:a16="http://schemas.microsoft.com/office/drawing/2014/main" id="{7A500749-5008-70AE-D018-8FC764B192EF}"/>
              </a:ext>
            </a:extLst>
          </p:cNvPr>
          <p:cNvSpPr>
            <a:spLocks noGrp="1"/>
          </p:cNvSpPr>
          <p:nvPr>
            <p:ph type="ftr" sz="quarter" idx="11"/>
          </p:nvPr>
        </p:nvSpPr>
        <p:spPr/>
        <p:txBody>
          <a:bodyPr/>
          <a:lstStyle/>
          <a:p>
            <a:endParaRPr lang="en-PG"/>
          </a:p>
        </p:txBody>
      </p:sp>
      <p:sp>
        <p:nvSpPr>
          <p:cNvPr id="4" name="Slide Number Placeholder 3">
            <a:extLst>
              <a:ext uri="{FF2B5EF4-FFF2-40B4-BE49-F238E27FC236}">
                <a16:creationId xmlns:a16="http://schemas.microsoft.com/office/drawing/2014/main" id="{A984AB7F-00F0-73DE-2849-7E6160E71D96}"/>
              </a:ext>
            </a:extLst>
          </p:cNvPr>
          <p:cNvSpPr>
            <a:spLocks noGrp="1"/>
          </p:cNvSpPr>
          <p:nvPr>
            <p:ph type="sldNum" sz="quarter" idx="12"/>
          </p:nvPr>
        </p:nvSpPr>
        <p:spPr/>
        <p:txBody>
          <a:bodyPr/>
          <a:lstStyle/>
          <a:p>
            <a:fld id="{B0245E6B-9DE8-49E0-AFA3-0E1A18C61EAF}" type="slidenum">
              <a:rPr lang="en-PG" smtClean="0"/>
              <a:t>‹#›</a:t>
            </a:fld>
            <a:endParaRPr lang="en-PG"/>
          </a:p>
        </p:txBody>
      </p:sp>
    </p:spTree>
    <p:extLst>
      <p:ext uri="{BB962C8B-B14F-4D97-AF65-F5344CB8AC3E}">
        <p14:creationId xmlns:p14="http://schemas.microsoft.com/office/powerpoint/2010/main" val="97664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CF3A4-D9C4-535A-1FEB-D483459E45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G"/>
          </a:p>
        </p:txBody>
      </p:sp>
      <p:sp>
        <p:nvSpPr>
          <p:cNvPr id="3" name="Content Placeholder 2">
            <a:extLst>
              <a:ext uri="{FF2B5EF4-FFF2-40B4-BE49-F238E27FC236}">
                <a16:creationId xmlns:a16="http://schemas.microsoft.com/office/drawing/2014/main" id="{8651D4EA-94C1-26DE-36E3-C1EDD805F0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G"/>
          </a:p>
        </p:txBody>
      </p:sp>
      <p:sp>
        <p:nvSpPr>
          <p:cNvPr id="4" name="Text Placeholder 3">
            <a:extLst>
              <a:ext uri="{FF2B5EF4-FFF2-40B4-BE49-F238E27FC236}">
                <a16:creationId xmlns:a16="http://schemas.microsoft.com/office/drawing/2014/main" id="{8F4B9F29-C798-FCEA-D259-60DFC588BA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AEEBC4-9DF8-D985-E0B6-0F00FDD1E877}"/>
              </a:ext>
            </a:extLst>
          </p:cNvPr>
          <p:cNvSpPr>
            <a:spLocks noGrp="1"/>
          </p:cNvSpPr>
          <p:nvPr>
            <p:ph type="dt" sz="half" idx="10"/>
          </p:nvPr>
        </p:nvSpPr>
        <p:spPr/>
        <p:txBody>
          <a:bodyPr/>
          <a:lstStyle/>
          <a:p>
            <a:fld id="{D9F128AF-B84E-414E-B0B7-1188AE8C82BD}" type="datetimeFigureOut">
              <a:rPr lang="en-PG" smtClean="0"/>
              <a:t>19/02/2025</a:t>
            </a:fld>
            <a:endParaRPr lang="en-PG"/>
          </a:p>
        </p:txBody>
      </p:sp>
      <p:sp>
        <p:nvSpPr>
          <p:cNvPr id="6" name="Footer Placeholder 5">
            <a:extLst>
              <a:ext uri="{FF2B5EF4-FFF2-40B4-BE49-F238E27FC236}">
                <a16:creationId xmlns:a16="http://schemas.microsoft.com/office/drawing/2014/main" id="{972C51A9-33C0-B2F7-7A36-53F41788BBD5}"/>
              </a:ext>
            </a:extLst>
          </p:cNvPr>
          <p:cNvSpPr>
            <a:spLocks noGrp="1"/>
          </p:cNvSpPr>
          <p:nvPr>
            <p:ph type="ftr" sz="quarter" idx="11"/>
          </p:nvPr>
        </p:nvSpPr>
        <p:spPr/>
        <p:txBody>
          <a:bodyPr/>
          <a:lstStyle/>
          <a:p>
            <a:endParaRPr lang="en-PG"/>
          </a:p>
        </p:txBody>
      </p:sp>
      <p:sp>
        <p:nvSpPr>
          <p:cNvPr id="7" name="Slide Number Placeholder 6">
            <a:extLst>
              <a:ext uri="{FF2B5EF4-FFF2-40B4-BE49-F238E27FC236}">
                <a16:creationId xmlns:a16="http://schemas.microsoft.com/office/drawing/2014/main" id="{A4D63F41-B7E1-0E77-2998-484AF8A774F9}"/>
              </a:ext>
            </a:extLst>
          </p:cNvPr>
          <p:cNvSpPr>
            <a:spLocks noGrp="1"/>
          </p:cNvSpPr>
          <p:nvPr>
            <p:ph type="sldNum" sz="quarter" idx="12"/>
          </p:nvPr>
        </p:nvSpPr>
        <p:spPr/>
        <p:txBody>
          <a:bodyPr/>
          <a:lstStyle/>
          <a:p>
            <a:fld id="{B0245E6B-9DE8-49E0-AFA3-0E1A18C61EAF}" type="slidenum">
              <a:rPr lang="en-PG" smtClean="0"/>
              <a:t>‹#›</a:t>
            </a:fld>
            <a:endParaRPr lang="en-PG"/>
          </a:p>
        </p:txBody>
      </p:sp>
    </p:spTree>
    <p:extLst>
      <p:ext uri="{BB962C8B-B14F-4D97-AF65-F5344CB8AC3E}">
        <p14:creationId xmlns:p14="http://schemas.microsoft.com/office/powerpoint/2010/main" val="3945046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924AD-2509-A412-2FDE-89AA237C3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G"/>
          </a:p>
        </p:txBody>
      </p:sp>
      <p:sp>
        <p:nvSpPr>
          <p:cNvPr id="3" name="Picture Placeholder 2">
            <a:extLst>
              <a:ext uri="{FF2B5EF4-FFF2-40B4-BE49-F238E27FC236}">
                <a16:creationId xmlns:a16="http://schemas.microsoft.com/office/drawing/2014/main" id="{8F7E9CAD-39AF-4722-DEF8-CCB8CB3FB1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G"/>
          </a:p>
        </p:txBody>
      </p:sp>
      <p:sp>
        <p:nvSpPr>
          <p:cNvPr id="4" name="Text Placeholder 3">
            <a:extLst>
              <a:ext uri="{FF2B5EF4-FFF2-40B4-BE49-F238E27FC236}">
                <a16:creationId xmlns:a16="http://schemas.microsoft.com/office/drawing/2014/main" id="{097F3808-9C53-A5DE-331F-6FCCD58765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4860C2-43A6-8196-0441-A6FE82726919}"/>
              </a:ext>
            </a:extLst>
          </p:cNvPr>
          <p:cNvSpPr>
            <a:spLocks noGrp="1"/>
          </p:cNvSpPr>
          <p:nvPr>
            <p:ph type="dt" sz="half" idx="10"/>
          </p:nvPr>
        </p:nvSpPr>
        <p:spPr/>
        <p:txBody>
          <a:bodyPr/>
          <a:lstStyle/>
          <a:p>
            <a:fld id="{D9F128AF-B84E-414E-B0B7-1188AE8C82BD}" type="datetimeFigureOut">
              <a:rPr lang="en-PG" smtClean="0"/>
              <a:t>19/02/2025</a:t>
            </a:fld>
            <a:endParaRPr lang="en-PG"/>
          </a:p>
        </p:txBody>
      </p:sp>
      <p:sp>
        <p:nvSpPr>
          <p:cNvPr id="6" name="Footer Placeholder 5">
            <a:extLst>
              <a:ext uri="{FF2B5EF4-FFF2-40B4-BE49-F238E27FC236}">
                <a16:creationId xmlns:a16="http://schemas.microsoft.com/office/drawing/2014/main" id="{2D2EF8C1-807B-CDDC-0D0F-354933C3A1EF}"/>
              </a:ext>
            </a:extLst>
          </p:cNvPr>
          <p:cNvSpPr>
            <a:spLocks noGrp="1"/>
          </p:cNvSpPr>
          <p:nvPr>
            <p:ph type="ftr" sz="quarter" idx="11"/>
          </p:nvPr>
        </p:nvSpPr>
        <p:spPr/>
        <p:txBody>
          <a:bodyPr/>
          <a:lstStyle/>
          <a:p>
            <a:endParaRPr lang="en-PG"/>
          </a:p>
        </p:txBody>
      </p:sp>
      <p:sp>
        <p:nvSpPr>
          <p:cNvPr id="7" name="Slide Number Placeholder 6">
            <a:extLst>
              <a:ext uri="{FF2B5EF4-FFF2-40B4-BE49-F238E27FC236}">
                <a16:creationId xmlns:a16="http://schemas.microsoft.com/office/drawing/2014/main" id="{3DF4CBBC-B209-3C7A-0FCC-B9C9732FE9F5}"/>
              </a:ext>
            </a:extLst>
          </p:cNvPr>
          <p:cNvSpPr>
            <a:spLocks noGrp="1"/>
          </p:cNvSpPr>
          <p:nvPr>
            <p:ph type="sldNum" sz="quarter" idx="12"/>
          </p:nvPr>
        </p:nvSpPr>
        <p:spPr/>
        <p:txBody>
          <a:bodyPr/>
          <a:lstStyle/>
          <a:p>
            <a:fld id="{B0245E6B-9DE8-49E0-AFA3-0E1A18C61EAF}" type="slidenum">
              <a:rPr lang="en-PG" smtClean="0"/>
              <a:t>‹#›</a:t>
            </a:fld>
            <a:endParaRPr lang="en-PG"/>
          </a:p>
        </p:txBody>
      </p:sp>
    </p:spTree>
    <p:extLst>
      <p:ext uri="{BB962C8B-B14F-4D97-AF65-F5344CB8AC3E}">
        <p14:creationId xmlns:p14="http://schemas.microsoft.com/office/powerpoint/2010/main" val="3975140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ED83C-52A0-F3B3-0EB2-E1027153D3DC}"/>
              </a:ext>
            </a:extLst>
          </p:cNvPr>
          <p:cNvSpPr>
            <a:spLocks noGrp="1"/>
          </p:cNvSpPr>
          <p:nvPr>
            <p:ph type="title"/>
          </p:nvPr>
        </p:nvSpPr>
        <p:spPr/>
        <p:txBody>
          <a:bodyPr/>
          <a:lstStyle/>
          <a:p>
            <a:r>
              <a:rPr lang="en-US"/>
              <a:t>Click to edit Master title style</a:t>
            </a:r>
            <a:endParaRPr lang="en-PG"/>
          </a:p>
        </p:txBody>
      </p:sp>
      <p:sp>
        <p:nvSpPr>
          <p:cNvPr id="3" name="Vertical Text Placeholder 2">
            <a:extLst>
              <a:ext uri="{FF2B5EF4-FFF2-40B4-BE49-F238E27FC236}">
                <a16:creationId xmlns:a16="http://schemas.microsoft.com/office/drawing/2014/main" id="{F82476CD-B86E-4C3B-DD12-89A540D3F9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G"/>
          </a:p>
        </p:txBody>
      </p:sp>
      <p:sp>
        <p:nvSpPr>
          <p:cNvPr id="4" name="Date Placeholder 3">
            <a:extLst>
              <a:ext uri="{FF2B5EF4-FFF2-40B4-BE49-F238E27FC236}">
                <a16:creationId xmlns:a16="http://schemas.microsoft.com/office/drawing/2014/main" id="{0E5B75A8-DB78-9429-2F4F-4606BC817588}"/>
              </a:ext>
            </a:extLst>
          </p:cNvPr>
          <p:cNvSpPr>
            <a:spLocks noGrp="1"/>
          </p:cNvSpPr>
          <p:nvPr>
            <p:ph type="dt" sz="half" idx="10"/>
          </p:nvPr>
        </p:nvSpPr>
        <p:spPr/>
        <p:txBody>
          <a:bodyPr/>
          <a:lstStyle/>
          <a:p>
            <a:fld id="{D9F128AF-B84E-414E-B0B7-1188AE8C82BD}" type="datetimeFigureOut">
              <a:rPr lang="en-PG" smtClean="0"/>
              <a:t>19/02/2025</a:t>
            </a:fld>
            <a:endParaRPr lang="en-PG"/>
          </a:p>
        </p:txBody>
      </p:sp>
      <p:sp>
        <p:nvSpPr>
          <p:cNvPr id="5" name="Footer Placeholder 4">
            <a:extLst>
              <a:ext uri="{FF2B5EF4-FFF2-40B4-BE49-F238E27FC236}">
                <a16:creationId xmlns:a16="http://schemas.microsoft.com/office/drawing/2014/main" id="{FEAD3F94-910C-A095-66B1-6D07411DDA70}"/>
              </a:ext>
            </a:extLst>
          </p:cNvPr>
          <p:cNvSpPr>
            <a:spLocks noGrp="1"/>
          </p:cNvSpPr>
          <p:nvPr>
            <p:ph type="ftr" sz="quarter" idx="11"/>
          </p:nvPr>
        </p:nvSpPr>
        <p:spPr/>
        <p:txBody>
          <a:bodyPr/>
          <a:lstStyle/>
          <a:p>
            <a:endParaRPr lang="en-PG"/>
          </a:p>
        </p:txBody>
      </p:sp>
      <p:sp>
        <p:nvSpPr>
          <p:cNvPr id="6" name="Slide Number Placeholder 5">
            <a:extLst>
              <a:ext uri="{FF2B5EF4-FFF2-40B4-BE49-F238E27FC236}">
                <a16:creationId xmlns:a16="http://schemas.microsoft.com/office/drawing/2014/main" id="{503171DB-6F76-C9DE-0CC0-E206222074D7}"/>
              </a:ext>
            </a:extLst>
          </p:cNvPr>
          <p:cNvSpPr>
            <a:spLocks noGrp="1"/>
          </p:cNvSpPr>
          <p:nvPr>
            <p:ph type="sldNum" sz="quarter" idx="12"/>
          </p:nvPr>
        </p:nvSpPr>
        <p:spPr/>
        <p:txBody>
          <a:bodyPr/>
          <a:lstStyle/>
          <a:p>
            <a:fld id="{B0245E6B-9DE8-49E0-AFA3-0E1A18C61EAF}" type="slidenum">
              <a:rPr lang="en-PG" smtClean="0"/>
              <a:t>‹#›</a:t>
            </a:fld>
            <a:endParaRPr lang="en-PG"/>
          </a:p>
        </p:txBody>
      </p:sp>
    </p:spTree>
    <p:extLst>
      <p:ext uri="{BB962C8B-B14F-4D97-AF65-F5344CB8AC3E}">
        <p14:creationId xmlns:p14="http://schemas.microsoft.com/office/powerpoint/2010/main" val="33035251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8BF3EB-F7FF-59D8-6042-3B449C1224A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G"/>
          </a:p>
        </p:txBody>
      </p:sp>
      <p:sp>
        <p:nvSpPr>
          <p:cNvPr id="3" name="Vertical Text Placeholder 2">
            <a:extLst>
              <a:ext uri="{FF2B5EF4-FFF2-40B4-BE49-F238E27FC236}">
                <a16:creationId xmlns:a16="http://schemas.microsoft.com/office/drawing/2014/main" id="{8134BA46-A271-D40A-FC7B-5AC888E22E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G"/>
          </a:p>
        </p:txBody>
      </p:sp>
      <p:sp>
        <p:nvSpPr>
          <p:cNvPr id="4" name="Date Placeholder 3">
            <a:extLst>
              <a:ext uri="{FF2B5EF4-FFF2-40B4-BE49-F238E27FC236}">
                <a16:creationId xmlns:a16="http://schemas.microsoft.com/office/drawing/2014/main" id="{87A6093C-AE05-8AA0-67AD-E9DCAA5E77CD}"/>
              </a:ext>
            </a:extLst>
          </p:cNvPr>
          <p:cNvSpPr>
            <a:spLocks noGrp="1"/>
          </p:cNvSpPr>
          <p:nvPr>
            <p:ph type="dt" sz="half" idx="10"/>
          </p:nvPr>
        </p:nvSpPr>
        <p:spPr/>
        <p:txBody>
          <a:bodyPr/>
          <a:lstStyle/>
          <a:p>
            <a:fld id="{D9F128AF-B84E-414E-B0B7-1188AE8C82BD}" type="datetimeFigureOut">
              <a:rPr lang="en-PG" smtClean="0"/>
              <a:t>19/02/2025</a:t>
            </a:fld>
            <a:endParaRPr lang="en-PG"/>
          </a:p>
        </p:txBody>
      </p:sp>
      <p:sp>
        <p:nvSpPr>
          <p:cNvPr id="5" name="Footer Placeholder 4">
            <a:extLst>
              <a:ext uri="{FF2B5EF4-FFF2-40B4-BE49-F238E27FC236}">
                <a16:creationId xmlns:a16="http://schemas.microsoft.com/office/drawing/2014/main" id="{71724154-01A8-D358-7430-D6328127A647}"/>
              </a:ext>
            </a:extLst>
          </p:cNvPr>
          <p:cNvSpPr>
            <a:spLocks noGrp="1"/>
          </p:cNvSpPr>
          <p:nvPr>
            <p:ph type="ftr" sz="quarter" idx="11"/>
          </p:nvPr>
        </p:nvSpPr>
        <p:spPr/>
        <p:txBody>
          <a:bodyPr/>
          <a:lstStyle/>
          <a:p>
            <a:endParaRPr lang="en-PG"/>
          </a:p>
        </p:txBody>
      </p:sp>
      <p:sp>
        <p:nvSpPr>
          <p:cNvPr id="6" name="Slide Number Placeholder 5">
            <a:extLst>
              <a:ext uri="{FF2B5EF4-FFF2-40B4-BE49-F238E27FC236}">
                <a16:creationId xmlns:a16="http://schemas.microsoft.com/office/drawing/2014/main" id="{5F97437A-3596-E5AC-56E4-0EE2ACA97495}"/>
              </a:ext>
            </a:extLst>
          </p:cNvPr>
          <p:cNvSpPr>
            <a:spLocks noGrp="1"/>
          </p:cNvSpPr>
          <p:nvPr>
            <p:ph type="sldNum" sz="quarter" idx="12"/>
          </p:nvPr>
        </p:nvSpPr>
        <p:spPr/>
        <p:txBody>
          <a:bodyPr/>
          <a:lstStyle/>
          <a:p>
            <a:fld id="{B0245E6B-9DE8-49E0-AFA3-0E1A18C61EAF}" type="slidenum">
              <a:rPr lang="en-PG" smtClean="0"/>
              <a:t>‹#›</a:t>
            </a:fld>
            <a:endParaRPr lang="en-PG"/>
          </a:p>
        </p:txBody>
      </p:sp>
    </p:spTree>
    <p:extLst>
      <p:ext uri="{BB962C8B-B14F-4D97-AF65-F5344CB8AC3E}">
        <p14:creationId xmlns:p14="http://schemas.microsoft.com/office/powerpoint/2010/main" val="4283025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2A60C3-48BE-B16F-0C5B-7317C93754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G"/>
          </a:p>
        </p:txBody>
      </p:sp>
      <p:sp>
        <p:nvSpPr>
          <p:cNvPr id="3" name="Text Placeholder 2">
            <a:extLst>
              <a:ext uri="{FF2B5EF4-FFF2-40B4-BE49-F238E27FC236}">
                <a16:creationId xmlns:a16="http://schemas.microsoft.com/office/drawing/2014/main" id="{3811ADE9-7126-AA34-4D3D-F15475A52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G"/>
          </a:p>
        </p:txBody>
      </p:sp>
      <p:sp>
        <p:nvSpPr>
          <p:cNvPr id="4" name="Date Placeholder 3">
            <a:extLst>
              <a:ext uri="{FF2B5EF4-FFF2-40B4-BE49-F238E27FC236}">
                <a16:creationId xmlns:a16="http://schemas.microsoft.com/office/drawing/2014/main" id="{08D9C5D0-689A-7027-6C33-5A16A49D45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F128AF-B84E-414E-B0B7-1188AE8C82BD}" type="datetimeFigureOut">
              <a:rPr lang="en-PG" smtClean="0"/>
              <a:t>19/02/2025</a:t>
            </a:fld>
            <a:endParaRPr lang="en-PG"/>
          </a:p>
        </p:txBody>
      </p:sp>
      <p:sp>
        <p:nvSpPr>
          <p:cNvPr id="5" name="Footer Placeholder 4">
            <a:extLst>
              <a:ext uri="{FF2B5EF4-FFF2-40B4-BE49-F238E27FC236}">
                <a16:creationId xmlns:a16="http://schemas.microsoft.com/office/drawing/2014/main" id="{21D0E2DF-A3AF-7F00-5F65-B2C5E6EA6A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G"/>
          </a:p>
        </p:txBody>
      </p:sp>
      <p:sp>
        <p:nvSpPr>
          <p:cNvPr id="6" name="Slide Number Placeholder 5">
            <a:extLst>
              <a:ext uri="{FF2B5EF4-FFF2-40B4-BE49-F238E27FC236}">
                <a16:creationId xmlns:a16="http://schemas.microsoft.com/office/drawing/2014/main" id="{AA9F2935-1D5E-A462-F51D-5291026B71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245E6B-9DE8-49E0-AFA3-0E1A18C61EAF}" type="slidenum">
              <a:rPr lang="en-PG" smtClean="0"/>
              <a:t>‹#›</a:t>
            </a:fld>
            <a:endParaRPr lang="en-PG"/>
          </a:p>
        </p:txBody>
      </p:sp>
    </p:spTree>
    <p:extLst>
      <p:ext uri="{BB962C8B-B14F-4D97-AF65-F5344CB8AC3E}">
        <p14:creationId xmlns:p14="http://schemas.microsoft.com/office/powerpoint/2010/main" val="34972439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en.wiktionary.org/wiki/microscope" TargetMode="External"/><Relationship Id="rId7" Type="http://schemas.openxmlformats.org/officeDocument/2006/relationships/diagramColors" Target="../diagrams/colors1.xml"/><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nature.com/articles/s41579-019-0265-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4A1733-A00C-14FA-6E0E-1A9627C64B0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4752975" cy="6858000"/>
          </a:xfrm>
          <a:prstGeom prst="rect">
            <a:avLst/>
          </a:prstGeom>
          <a:ln>
            <a:noFill/>
          </a:ln>
          <a:effectLst>
            <a:outerShdw blurRad="190500" algn="tl" rotWithShape="0">
              <a:srgbClr val="000000">
                <a:alpha val="70000"/>
              </a:srgbClr>
            </a:outerShdw>
          </a:effectLst>
        </p:spPr>
      </p:pic>
      <p:sp>
        <p:nvSpPr>
          <p:cNvPr id="5" name="TextBox 8">
            <a:extLst>
              <a:ext uri="{FF2B5EF4-FFF2-40B4-BE49-F238E27FC236}">
                <a16:creationId xmlns:a16="http://schemas.microsoft.com/office/drawing/2014/main" id="{6BEAD788-D062-8348-922C-3249DD18EBEE}"/>
              </a:ext>
            </a:extLst>
          </p:cNvPr>
          <p:cNvSpPr txBox="1"/>
          <p:nvPr/>
        </p:nvSpPr>
        <p:spPr>
          <a:xfrm>
            <a:off x="5130129" y="604894"/>
            <a:ext cx="6970029" cy="2554545"/>
          </a:xfrm>
          <a:prstGeom prst="rect">
            <a:avLst/>
          </a:prstGeom>
          <a:noFill/>
        </p:spPr>
        <p:txBody>
          <a:bodyPr wrap="square" rtlCol="0">
            <a:spAutoFit/>
          </a:bodyPr>
          <a:lstStyle>
            <a:defPPr>
              <a:defRPr lang="en-P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000" b="1" dirty="0">
                <a:latin typeface="Times New Roman" panose="02020603050405020304" pitchFamily="18" charset="0"/>
                <a:cs typeface="Times New Roman" panose="02020603050405020304" pitchFamily="18" charset="0"/>
              </a:rPr>
              <a:t>Title: </a:t>
            </a:r>
            <a:r>
              <a:rPr lang="en-US" sz="2000" dirty="0">
                <a:latin typeface="Times New Roman" panose="02020603050405020304" pitchFamily="18" charset="0"/>
                <a:cs typeface="Times New Roman" panose="02020603050405020304" pitchFamily="18" charset="0"/>
              </a:rPr>
              <a:t>Key concepts and principle in Environmental biotechnology</a:t>
            </a:r>
          </a:p>
          <a:p>
            <a:pPr algn="just"/>
            <a:r>
              <a:rPr lang="en-US" sz="2000" b="1" dirty="0">
                <a:latin typeface="Times New Roman" panose="02020603050405020304" pitchFamily="18" charset="0"/>
                <a:cs typeface="Times New Roman" panose="02020603050405020304" pitchFamily="18" charset="0"/>
              </a:rPr>
              <a:t>Subtitle:</a:t>
            </a:r>
            <a:r>
              <a:rPr lang="en-US" sz="2000" dirty="0">
                <a:latin typeface="Times New Roman" panose="02020603050405020304" pitchFamily="18" charset="0"/>
                <a:cs typeface="Times New Roman" panose="02020603050405020304" pitchFamily="18" charset="0"/>
              </a:rPr>
              <a:t> Understanding the Role of Biotechnology in Environmental Management.</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Department</a:t>
            </a:r>
            <a:r>
              <a:rPr lang="en-US" sz="2000" dirty="0">
                <a:latin typeface="Times New Roman" panose="02020603050405020304" pitchFamily="18" charset="0"/>
                <a:cs typeface="Times New Roman" panose="02020603050405020304" pitchFamily="18" charset="0"/>
              </a:rPr>
              <a:t>: M.Sc. Environmental Science </a:t>
            </a:r>
          </a:p>
          <a:p>
            <a:pPr algn="just"/>
            <a:r>
              <a:rPr lang="en-US" sz="2000" b="1" dirty="0">
                <a:latin typeface="Times New Roman" panose="02020603050405020304" pitchFamily="18" charset="0"/>
                <a:cs typeface="Times New Roman" panose="02020603050405020304" pitchFamily="18" charset="0"/>
              </a:rPr>
              <a:t>Enrolment Number</a:t>
            </a:r>
            <a:r>
              <a:rPr lang="en-US" sz="2000" dirty="0">
                <a:latin typeface="Times New Roman" panose="02020603050405020304" pitchFamily="18" charset="0"/>
                <a:cs typeface="Times New Roman" panose="02020603050405020304" pitchFamily="18" charset="0"/>
              </a:rPr>
              <a:t>: 2411272110004</a:t>
            </a:r>
          </a:p>
          <a:p>
            <a:pPr algn="just"/>
            <a:r>
              <a:rPr lang="en-US" sz="2000" b="1" dirty="0">
                <a:latin typeface="Times New Roman" panose="02020603050405020304" pitchFamily="18" charset="0"/>
                <a:cs typeface="Times New Roman" panose="02020603050405020304" pitchFamily="18" charset="0"/>
              </a:rPr>
              <a:t>Institute</a:t>
            </a:r>
            <a:r>
              <a:rPr lang="en-US" sz="2000" dirty="0">
                <a:latin typeface="Times New Roman" panose="02020603050405020304" pitchFamily="18" charset="0"/>
                <a:cs typeface="Times New Roman" panose="02020603050405020304" pitchFamily="18" charset="0"/>
              </a:rPr>
              <a:t>: Parul University of Applied Science</a:t>
            </a:r>
          </a:p>
          <a:p>
            <a:pPr algn="just"/>
            <a:r>
              <a:rPr lang="en-US" sz="2000" dirty="0">
                <a:latin typeface="Times New Roman" panose="02020603050405020304" pitchFamily="18" charset="0"/>
                <a:cs typeface="Times New Roman" panose="02020603050405020304" pitchFamily="18" charset="0"/>
              </a:rPr>
              <a:t> </a:t>
            </a:r>
          </a:p>
        </p:txBody>
      </p:sp>
      <p:graphicFrame>
        <p:nvGraphicFramePr>
          <p:cNvPr id="2" name="Content Placeholder 4">
            <a:extLst>
              <a:ext uri="{FF2B5EF4-FFF2-40B4-BE49-F238E27FC236}">
                <a16:creationId xmlns:a16="http://schemas.microsoft.com/office/drawing/2014/main" id="{87601D5F-6941-E2DE-E9BD-7EE21B22278E}"/>
              </a:ext>
            </a:extLst>
          </p:cNvPr>
          <p:cNvGraphicFramePr>
            <a:graphicFrameLocks noGrp="1"/>
          </p:cNvGraphicFramePr>
          <p:nvPr>
            <p:extLst>
              <p:ext uri="{D42A27DB-BD31-4B8C-83A1-F6EECF244321}">
                <p14:modId xmlns:p14="http://schemas.microsoft.com/office/powerpoint/2010/main" val="1218129436"/>
              </p:ext>
            </p:extLst>
          </p:nvPr>
        </p:nvGraphicFramePr>
        <p:xfrm>
          <a:off x="2875486" y="3698562"/>
          <a:ext cx="11344072" cy="268415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153433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06080-6BCE-9390-961E-49A51399E642}"/>
              </a:ext>
            </a:extLst>
          </p:cNvPr>
          <p:cNvSpPr>
            <a:spLocks noGrp="1"/>
          </p:cNvSpPr>
          <p:nvPr>
            <p:ph type="title"/>
          </p:nvPr>
        </p:nvSpPr>
        <p:spPr>
          <a:xfrm>
            <a:off x="838200" y="431738"/>
            <a:ext cx="10515600" cy="625538"/>
          </a:xfrm>
        </p:spPr>
        <p:txBody>
          <a:bodyPr>
            <a:normAutofit fontScale="90000"/>
          </a:bodyPr>
          <a:lstStyle/>
          <a:p>
            <a:r>
              <a:rPr lang="en-US" sz="4000" b="1" dirty="0">
                <a:latin typeface="Aharoni" panose="02010803020104030203" pitchFamily="2" charset="-79"/>
                <a:cs typeface="Aharoni" panose="02010803020104030203" pitchFamily="2" charset="-79"/>
              </a:rPr>
              <a:t>Presentation Outline</a:t>
            </a:r>
            <a:endParaRPr lang="en-PG" sz="4000" b="1" dirty="0">
              <a:latin typeface="Aharoni" panose="02010803020104030203" pitchFamily="2" charset="-79"/>
              <a:cs typeface="Aharoni" panose="02010803020104030203" pitchFamily="2" charset="-79"/>
            </a:endParaRPr>
          </a:p>
        </p:txBody>
      </p:sp>
      <p:sp>
        <p:nvSpPr>
          <p:cNvPr id="3" name="Content Placeholder 2">
            <a:extLst>
              <a:ext uri="{FF2B5EF4-FFF2-40B4-BE49-F238E27FC236}">
                <a16:creationId xmlns:a16="http://schemas.microsoft.com/office/drawing/2014/main" id="{3E9EDB8D-00E6-EBA5-B7B9-3BC5BA915EBF}"/>
              </a:ext>
            </a:extLst>
          </p:cNvPr>
          <p:cNvSpPr>
            <a:spLocks noGrp="1"/>
          </p:cNvSpPr>
          <p:nvPr>
            <p:ph idx="1"/>
          </p:nvPr>
        </p:nvSpPr>
        <p:spPr>
          <a:xfrm>
            <a:off x="838200" y="1057276"/>
            <a:ext cx="10515600" cy="5629274"/>
          </a:xfrm>
        </p:spPr>
        <p:txBody>
          <a:bodyPr>
            <a:normAutofit/>
          </a:bodyPr>
          <a:lstStyle/>
          <a:p>
            <a:pPr marL="514350" indent="-514350" algn="just">
              <a:buAutoNum type="arabicPeriod"/>
            </a:pPr>
            <a:r>
              <a:rPr lang="en-US" sz="3200" dirty="0">
                <a:latin typeface="Times New Roman" panose="02020603050405020304" pitchFamily="18" charset="0"/>
                <a:cs typeface="Times New Roman" panose="02020603050405020304" pitchFamily="18" charset="0"/>
              </a:rPr>
              <a:t>Introduction to Environmental biotechnology</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Micro-organism in Environmental biotechnology</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 Bio-remediation in Environmental biotechnology</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Wastewater treatment using biotechnology </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Bioenergy and renewable resource </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Phytoremediation and green solution </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Genetic Manipulation strategies in Environmental biotechnology </a:t>
            </a:r>
            <a:endParaRPr lang="en-US" sz="2800" dirty="0">
              <a:latin typeface="Times New Roman" panose="02020603050405020304" pitchFamily="18" charset="0"/>
              <a:cs typeface="Times New Roman" panose="02020603050405020304" pitchFamily="18" charset="0"/>
            </a:endParaRPr>
          </a:p>
          <a:p>
            <a:pPr marL="0" indent="0" algn="just">
              <a:buNone/>
            </a:pPr>
            <a:r>
              <a:rPr lang="en-US" sz="3200" dirty="0">
                <a:latin typeface="Times New Roman" panose="02020603050405020304" pitchFamily="18" charset="0"/>
                <a:cs typeface="Times New Roman" panose="02020603050405020304" pitchFamily="18" charset="0"/>
              </a:rPr>
              <a:t>2. Ethical and Sustainable Considerations</a:t>
            </a:r>
          </a:p>
          <a:p>
            <a:pPr marL="0" indent="0" algn="just">
              <a:buNone/>
            </a:pPr>
            <a:r>
              <a:rPr lang="en-US" sz="3200" dirty="0">
                <a:latin typeface="Times New Roman" panose="02020603050405020304" pitchFamily="18" charset="0"/>
                <a:cs typeface="Times New Roman" panose="02020603050405020304" pitchFamily="18" charset="0"/>
              </a:rPr>
              <a:t>3. Conclusion and Future Perspectives</a:t>
            </a:r>
          </a:p>
          <a:p>
            <a:pPr marL="0" indent="0" algn="just">
              <a:buNone/>
            </a:pPr>
            <a:r>
              <a:rPr lang="en-US" sz="3200" dirty="0">
                <a:latin typeface="Times New Roman" panose="02020603050405020304" pitchFamily="18" charset="0"/>
                <a:cs typeface="Times New Roman" panose="02020603050405020304" pitchFamily="18" charset="0"/>
              </a:rPr>
              <a:t>4. Reference</a:t>
            </a: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7226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A8ACF-203D-C1CA-9914-D12B3E36E693}"/>
              </a:ext>
            </a:extLst>
          </p:cNvPr>
          <p:cNvSpPr>
            <a:spLocks noGrp="1"/>
          </p:cNvSpPr>
          <p:nvPr>
            <p:ph type="title"/>
          </p:nvPr>
        </p:nvSpPr>
        <p:spPr>
          <a:xfrm>
            <a:off x="838200" y="365125"/>
            <a:ext cx="10515600" cy="676443"/>
          </a:xfrm>
        </p:spPr>
        <p:txBody>
          <a:bodyPr>
            <a:normAutofit fontScale="90000"/>
          </a:bodyPr>
          <a:lstStyle/>
          <a:p>
            <a:br>
              <a:rPr lang="en-US" sz="4000" b="1" dirty="0">
                <a:latin typeface="Times New Roman" panose="02020603050405020304" pitchFamily="18" charset="0"/>
                <a:cs typeface="Times New Roman" panose="02020603050405020304" pitchFamily="18" charset="0"/>
              </a:rPr>
            </a:br>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Introduction to Environmental biotechnology</a:t>
            </a:r>
            <a:br>
              <a:rPr lang="en-US" sz="4400"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lang="en-PG" dirty="0"/>
          </a:p>
        </p:txBody>
      </p:sp>
      <p:sp>
        <p:nvSpPr>
          <p:cNvPr id="4" name="Rectangle 1">
            <a:extLst>
              <a:ext uri="{FF2B5EF4-FFF2-40B4-BE49-F238E27FC236}">
                <a16:creationId xmlns:a16="http://schemas.microsoft.com/office/drawing/2014/main" id="{FFBE6AFC-D318-D2E8-0B3A-C39BB21A5440}"/>
              </a:ext>
            </a:extLst>
          </p:cNvPr>
          <p:cNvSpPr>
            <a:spLocks noGrp="1" noChangeArrowheads="1"/>
          </p:cNvSpPr>
          <p:nvPr>
            <p:ph idx="1"/>
          </p:nvPr>
        </p:nvSpPr>
        <p:spPr bwMode="auto">
          <a:xfrm>
            <a:off x="390525" y="936344"/>
            <a:ext cx="11591925" cy="5442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lang="en-US" sz="2000" dirty="0">
                <a:latin typeface="Times New Roman" panose="02020603050405020304" pitchFamily="18" charset="0"/>
                <a:cs typeface="Times New Roman" panose="02020603050405020304" pitchFamily="18" charset="0"/>
              </a:rPr>
              <a:t> Environmental biotechnology applies biological processes to solve environmental problem and sustainably mange natural resource. It utilize living organism, cells, and biological system to develop technologies for environmental protection, waste treatment, and pollution remediation. Environmental biotechnology work towards sustainable practices, conservation of biodiversity, and minimizing environmental degradation.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lang="en-US" sz="2000" dirty="0">
                <a:latin typeface="Times New Roman" panose="02020603050405020304" pitchFamily="18" charset="0"/>
                <a:cs typeface="Times New Roman" panose="02020603050405020304" pitchFamily="18" charset="0"/>
              </a:rPr>
              <a:t> The main objective of environmental technology aims to develop sustainable technologies for efficient pollution and control remediation, conservation of biodiversity, and sustainable use of natural resources.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lang="en-US" sz="2000" dirty="0">
                <a:latin typeface="Times New Roman" panose="02020603050405020304" pitchFamily="18" charset="0"/>
                <a:cs typeface="Times New Roman" panose="02020603050405020304" pitchFamily="18" charset="0"/>
              </a:rPr>
              <a:t>It supports sustainable development by reducing environmental degradation and promoting eco-friendly industrial processes (Das &amp; Dash, 2020). Key benefits include improved wastewater treatment, air purification, and biodiversity conservation (Rittmann, 2018).</a:t>
            </a:r>
          </a:p>
          <a:p>
            <a:pPr marR="0" lvl="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US" sz="2000" b="1" i="0" u="sng"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Key Areas</a:t>
            </a:r>
          </a:p>
          <a:p>
            <a:pPr marL="228600" marR="0" lvl="0" indent="-22860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Waste Management</a:t>
            </a: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Microbial processes treat solid and liquid waste, minimizing pollution.</a:t>
            </a:r>
          </a:p>
          <a:p>
            <a:pPr marL="228600" marR="0" lvl="0" indent="-22860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Bioremediation</a:t>
            </a: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Uses microorganisms and plants to remove pollutants from soil, water, and air.</a:t>
            </a:r>
          </a:p>
          <a:p>
            <a:pPr marL="228600" marR="0" lvl="0" indent="-22860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Bioenergy: </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Develops biofuels and biogas from organic waste, reducing fossil fuel dependence.</a:t>
            </a:r>
          </a:p>
          <a:p>
            <a:pPr marL="228600" marR="0" lvl="0" indent="-22860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Conservation</a:t>
            </a: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Enhances biodiversity through genetic resource management and sustainable practices.</a:t>
            </a:r>
            <a:endParaRPr kumimoji="0" lang="en-US" sz="2000" b="0" i="0" u="none" strike="noStrike" kern="1200" cap="none" spc="0" normalizeH="0" baseline="0" noProof="0" dirty="0">
              <a:ln>
                <a:noFill/>
              </a:ln>
              <a:solidFill>
                <a:srgbClr val="2F5496"/>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PG" altLang="en-PG"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01598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9F4D8-ABD9-A324-06FD-7629957DA351}"/>
              </a:ext>
            </a:extLst>
          </p:cNvPr>
          <p:cNvSpPr>
            <a:spLocks noGrp="1"/>
          </p:cNvSpPr>
          <p:nvPr>
            <p:ph type="title"/>
          </p:nvPr>
        </p:nvSpPr>
        <p:spPr>
          <a:xfrm>
            <a:off x="838200" y="365125"/>
            <a:ext cx="10515600" cy="587375"/>
          </a:xfrm>
        </p:spPr>
        <p:txBody>
          <a:bodyPr>
            <a:noAutofit/>
          </a:bodyPr>
          <a:lstStyle/>
          <a:p>
            <a:r>
              <a:rPr lang="en-US" sz="3600" b="1" dirty="0">
                <a:latin typeface="Times New Roman" panose="02020603050405020304" pitchFamily="18" charset="0"/>
                <a:cs typeface="Times New Roman" panose="02020603050405020304" pitchFamily="18" charset="0"/>
              </a:rPr>
              <a:t>Micro-organism in Environmental biotechnology</a:t>
            </a:r>
            <a:endParaRPr lang="en-PG" sz="3600" b="1" dirty="0"/>
          </a:p>
        </p:txBody>
      </p:sp>
      <p:sp>
        <p:nvSpPr>
          <p:cNvPr id="3" name="Content Placeholder 2">
            <a:extLst>
              <a:ext uri="{FF2B5EF4-FFF2-40B4-BE49-F238E27FC236}">
                <a16:creationId xmlns:a16="http://schemas.microsoft.com/office/drawing/2014/main" id="{77544453-A8D4-6AFD-79BC-51DC8755A836}"/>
              </a:ext>
            </a:extLst>
          </p:cNvPr>
          <p:cNvSpPr>
            <a:spLocks noGrp="1"/>
          </p:cNvSpPr>
          <p:nvPr>
            <p:ph idx="1"/>
          </p:nvPr>
        </p:nvSpPr>
        <p:spPr>
          <a:xfrm>
            <a:off x="838200" y="1025524"/>
            <a:ext cx="10515600" cy="5532721"/>
          </a:xfrm>
        </p:spPr>
        <p:txBody>
          <a:bodyPr>
            <a:normAutofit/>
          </a:bodyPr>
          <a:lstStyle/>
          <a:p>
            <a:pPr algn="just"/>
            <a:r>
              <a:rPr lang="en-US" sz="2000" dirty="0">
                <a:latin typeface="Times New Roman" panose="02020603050405020304" pitchFamily="18" charset="0"/>
                <a:cs typeface="Times New Roman" panose="02020603050405020304" pitchFamily="18" charset="0"/>
              </a:rPr>
              <a:t>Microorganisms play a crucial role in </a:t>
            </a:r>
            <a:r>
              <a:rPr lang="en-US" sz="2000" b="1" dirty="0">
                <a:latin typeface="Times New Roman" panose="02020603050405020304" pitchFamily="18" charset="0"/>
                <a:cs typeface="Times New Roman" panose="02020603050405020304" pitchFamily="18" charset="0"/>
              </a:rPr>
              <a:t>bioremediation</a:t>
            </a:r>
            <a:r>
              <a:rPr lang="en-US" sz="2000" dirty="0">
                <a:latin typeface="Times New Roman" panose="02020603050405020304" pitchFamily="18" charset="0"/>
                <a:cs typeface="Times New Roman" panose="02020603050405020304" pitchFamily="18" charset="0"/>
              </a:rPr>
              <a:t>, the process of using biological agents to remove or neutralize contaminants from the environment. Bacteria, fungi, and algae contribute significantly to waste degradation, pollutant removal, and nutrient cycling in ecosystems.</a:t>
            </a:r>
          </a:p>
          <a:p>
            <a:pPr marL="228600" marR="0" lvl="0" indent="-228600" algn="just"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Bacteria are the most widely used microorganisms in bioremediation due to their rapid adaptability and diverse metabolic capabilities. They degrade organic and inorganic pollutants, including hydrocarbons, heavy metals, and industrial waste.</a:t>
            </a:r>
            <a:r>
              <a:rPr lang="en-US" sz="2000" dirty="0">
                <a:solidFill>
                  <a:prstClr val="black"/>
                </a:solidFill>
                <a:latin typeface="Times New Roman" panose="02020603050405020304" pitchFamily="18" charset="0"/>
                <a:cs typeface="Times New Roman" panose="02020603050405020304" pitchFamily="18" charset="0"/>
              </a:rPr>
              <a:t> (e.g. is Bacillus subtilis, Nitrifying bacteria, </a:t>
            </a:r>
            <a:r>
              <a:rPr lang="en-US" sz="2000" i="1" dirty="0">
                <a:latin typeface="Times New Roman" panose="02020603050405020304" pitchFamily="18" charset="0"/>
                <a:cs typeface="Times New Roman" panose="02020603050405020304" pitchFamily="18" charset="0"/>
              </a:rPr>
              <a:t>Pseudomonas putida</a:t>
            </a:r>
            <a:r>
              <a:rPr lang="en-US" sz="2000" dirty="0">
                <a:latin typeface="Times New Roman" panose="02020603050405020304" pitchFamily="18" charset="0"/>
                <a:cs typeface="Times New Roman" panose="02020603050405020304" pitchFamily="18" charset="0"/>
              </a:rPr>
              <a:t> </a:t>
            </a:r>
            <a:r>
              <a:rPr lang="en-US" sz="2000" dirty="0">
                <a:solidFill>
                  <a:prstClr val="black"/>
                </a:solidFill>
                <a:latin typeface="Times New Roman" panose="02020603050405020304" pitchFamily="18" charset="0"/>
                <a:cs typeface="Times New Roman" panose="02020603050405020304" pitchFamily="18" charset="0"/>
              </a:rPr>
              <a:t>)</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228600" marR="0" lvl="0" indent="-228600" algn="just"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Fungi, especially filamentous fungi, are effective in breaking down complex organic pollutants such as dyes, pesticides, and petroleum products. They release extracellular enzymes that degrade contaminants into simpler, less harmful substances.</a:t>
            </a:r>
            <a:r>
              <a:rPr lang="en-US" sz="2000" dirty="0">
                <a:solidFill>
                  <a:prstClr val="black"/>
                </a:solidFill>
                <a:latin typeface="Times New Roman" panose="02020603050405020304" pitchFamily="18" charset="0"/>
                <a:cs typeface="Times New Roman" panose="02020603050405020304" pitchFamily="18" charset="0"/>
              </a:rPr>
              <a:t> ( e.g. </a:t>
            </a:r>
            <a:r>
              <a:rPr lang="en-US" sz="2000" i="1" dirty="0">
                <a:latin typeface="Times New Roman" panose="02020603050405020304" pitchFamily="18" charset="0"/>
                <a:cs typeface="Times New Roman" panose="02020603050405020304" pitchFamily="18" charset="0"/>
              </a:rPr>
              <a:t>Penicillium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spp</a:t>
            </a:r>
            <a:r>
              <a:rPr lang="en-US" sz="2000" dirty="0">
                <a:latin typeface="Times New Roman" panose="02020603050405020304" pitchFamily="18" charset="0"/>
                <a:cs typeface="Times New Roman" panose="02020603050405020304" pitchFamily="18" charset="0"/>
              </a:rPr>
              <a:t> &amp; </a:t>
            </a:r>
            <a:r>
              <a:rPr lang="en-IN" sz="2000" dirty="0">
                <a:latin typeface="Times New Roman" panose="02020603050405020304" pitchFamily="18" charset="0"/>
                <a:cs typeface="Times New Roman" panose="02020603050405020304" pitchFamily="18" charset="0"/>
              </a:rPr>
              <a:t>white-rot fungi</a:t>
            </a:r>
            <a:r>
              <a:rPr lang="en-US" sz="2000" dirty="0">
                <a:latin typeface="Times New Roman" panose="02020603050405020304" pitchFamily="18" charset="0"/>
                <a:cs typeface="Times New Roman" panose="02020603050405020304" pitchFamily="18" charset="0"/>
              </a:rPr>
              <a:t>)</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228600" marR="0" lvl="0" indent="-228600" algn="just"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Algae play a key role in wastewater treatment by absorbing nutrients, heavy metals, and carbon dioxide while producing oxygen. They also contribute to </a:t>
            </a:r>
            <a:r>
              <a:rPr kumimoji="0" lang="en-US" sz="20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phycoremediation</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 process where algae remove pollutants from water bodies. (e.g. </a:t>
            </a:r>
            <a:r>
              <a:rPr lang="en-US" sz="2000" i="1" dirty="0" err="1">
                <a:latin typeface="Times New Roman" panose="02020603050405020304" pitchFamily="18" charset="0"/>
                <a:cs typeface="Times New Roman" panose="02020603050405020304" pitchFamily="18" charset="0"/>
              </a:rPr>
              <a:t>Nannochloropsis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spp</a:t>
            </a:r>
            <a:r>
              <a:rPr lang="en-US" sz="2000" dirty="0">
                <a:latin typeface="Times New Roman" panose="02020603050405020304" pitchFamily="18" charset="0"/>
                <a:cs typeface="Times New Roman" panose="02020603050405020304" pitchFamily="18" charset="0"/>
              </a:rPr>
              <a:t> &amp; Chlorella vulgaris)</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228600" marR="0" lvl="0" indent="-228600" algn="just"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Microorganisms drive essential biogeochemical cycles, breaking down organic and inorganic materials to maintain ecosystem balance.</a:t>
            </a:r>
          </a:p>
        </p:txBody>
      </p:sp>
    </p:spTree>
    <p:extLst>
      <p:ext uri="{BB962C8B-B14F-4D97-AF65-F5344CB8AC3E}">
        <p14:creationId xmlns:p14="http://schemas.microsoft.com/office/powerpoint/2010/main" val="648515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F057E-9ED7-8C40-9854-D31F4A044468}"/>
              </a:ext>
            </a:extLst>
          </p:cNvPr>
          <p:cNvSpPr>
            <a:spLocks noGrp="1"/>
          </p:cNvSpPr>
          <p:nvPr>
            <p:ph type="title"/>
          </p:nvPr>
        </p:nvSpPr>
        <p:spPr>
          <a:xfrm>
            <a:off x="838200" y="365125"/>
            <a:ext cx="11010900" cy="701675"/>
          </a:xfrm>
        </p:spPr>
        <p:txBody>
          <a:bodyPr>
            <a:normAutofit fontScale="90000"/>
          </a:bodyPr>
          <a:lstStyle/>
          <a:p>
            <a:br>
              <a:rPr lang="en-US" dirty="0">
                <a:latin typeface="Times New Roman" panose="02020603050405020304" pitchFamily="18" charset="0"/>
                <a:cs typeface="Times New Roman" panose="02020603050405020304" pitchFamily="18" charset="0"/>
              </a:rPr>
            </a:br>
            <a:r>
              <a:rPr lang="en-US" sz="4400" b="1" dirty="0">
                <a:latin typeface="Times New Roman" panose="02020603050405020304" pitchFamily="18" charset="0"/>
                <a:cs typeface="Times New Roman" panose="02020603050405020304" pitchFamily="18" charset="0"/>
              </a:rPr>
              <a:t>Bio-remediation in Environmental biotechnology</a:t>
            </a:r>
            <a:br>
              <a:rPr lang="en-US" sz="4400" dirty="0">
                <a:latin typeface="Times New Roman" panose="02020603050405020304" pitchFamily="18" charset="0"/>
                <a:cs typeface="Times New Roman" panose="02020603050405020304" pitchFamily="18" charset="0"/>
              </a:rPr>
            </a:br>
            <a:endParaRPr lang="en-PG" dirty="0"/>
          </a:p>
        </p:txBody>
      </p:sp>
      <p:sp>
        <p:nvSpPr>
          <p:cNvPr id="3" name="Content Placeholder 2">
            <a:extLst>
              <a:ext uri="{FF2B5EF4-FFF2-40B4-BE49-F238E27FC236}">
                <a16:creationId xmlns:a16="http://schemas.microsoft.com/office/drawing/2014/main" id="{5DF62C6F-14DE-E9C7-558D-4C4570A5CC74}"/>
              </a:ext>
            </a:extLst>
          </p:cNvPr>
          <p:cNvSpPr>
            <a:spLocks noGrp="1"/>
          </p:cNvSpPr>
          <p:nvPr>
            <p:ph idx="1"/>
          </p:nvPr>
        </p:nvSpPr>
        <p:spPr>
          <a:xfrm>
            <a:off x="485775" y="1253331"/>
            <a:ext cx="11363323" cy="5239544"/>
          </a:xfrm>
        </p:spPr>
        <p:txBody>
          <a:bodyPr/>
          <a:lstStyle/>
          <a:p>
            <a:pPr algn="just">
              <a:buFont typeface="Wingdings" panose="05000000000000000000" pitchFamily="2" charset="2"/>
              <a:buChar char="q"/>
            </a:pPr>
            <a:r>
              <a:rPr lang="en-US" dirty="0"/>
              <a:t> </a:t>
            </a:r>
            <a:r>
              <a:rPr lang="en-US" sz="2400" b="0" i="0" u="none" strike="noStrike" baseline="0" dirty="0">
                <a:latin typeface="Times New Roman" panose="02020603050405020304" pitchFamily="18" charset="0"/>
              </a:rPr>
              <a:t>Bioremediation is a process that uses microorganisms, plants, or enzymes to degrade, detoxify, or remove pollutants from contaminated environments, restoring ecological balance in a sustainable manner.</a:t>
            </a:r>
          </a:p>
          <a:p>
            <a:pPr marL="0" indent="0" algn="ctr">
              <a:buNone/>
            </a:pPr>
            <a:r>
              <a:rPr lang="en-US" sz="2800" b="1" i="0" u="none" strike="noStrike" baseline="0" dirty="0">
                <a:latin typeface="Times New Roman" panose="02020603050405020304" pitchFamily="18" charset="0"/>
              </a:rPr>
              <a:t>  </a:t>
            </a:r>
            <a:r>
              <a:rPr lang="en-US" sz="2400" b="1" i="0" u="none" strike="noStrike" baseline="0" dirty="0">
                <a:latin typeface="Times New Roman" panose="02020603050405020304" pitchFamily="18" charset="0"/>
              </a:rPr>
              <a:t>Types of Bioremediation</a:t>
            </a:r>
          </a:p>
          <a:p>
            <a:pPr marL="0" indent="0">
              <a:buNone/>
            </a:pPr>
            <a:endParaRPr lang="en-US" sz="2800" i="0" u="none" strike="noStrike" baseline="0" dirty="0">
              <a:latin typeface="Times New Roman" panose="02020603050405020304" pitchFamily="18" charset="0"/>
            </a:endParaRPr>
          </a:p>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PG" dirty="0"/>
          </a:p>
        </p:txBody>
      </p:sp>
      <p:graphicFrame>
        <p:nvGraphicFramePr>
          <p:cNvPr id="8" name="Table 7">
            <a:extLst>
              <a:ext uri="{FF2B5EF4-FFF2-40B4-BE49-F238E27FC236}">
                <a16:creationId xmlns:a16="http://schemas.microsoft.com/office/drawing/2014/main" id="{E3BFAB22-F65B-3ACF-80DF-F353C333BE0C}"/>
              </a:ext>
            </a:extLst>
          </p:cNvPr>
          <p:cNvGraphicFramePr>
            <a:graphicFrameLocks noGrp="1"/>
          </p:cNvGraphicFramePr>
          <p:nvPr>
            <p:extLst>
              <p:ext uri="{D42A27DB-BD31-4B8C-83A1-F6EECF244321}">
                <p14:modId xmlns:p14="http://schemas.microsoft.com/office/powerpoint/2010/main" val="2547494208"/>
              </p:ext>
            </p:extLst>
          </p:nvPr>
        </p:nvGraphicFramePr>
        <p:xfrm>
          <a:off x="678008" y="2888339"/>
          <a:ext cx="10978856" cy="3685882"/>
        </p:xfrm>
        <a:graphic>
          <a:graphicData uri="http://schemas.openxmlformats.org/drawingml/2006/table">
            <a:tbl>
              <a:tblPr firstRow="1" bandRow="1">
                <a:tableStyleId>{616DA210-FB5B-4158-B5E0-FEB733F419BA}</a:tableStyleId>
              </a:tblPr>
              <a:tblGrid>
                <a:gridCol w="5489428">
                  <a:extLst>
                    <a:ext uri="{9D8B030D-6E8A-4147-A177-3AD203B41FA5}">
                      <a16:colId xmlns:a16="http://schemas.microsoft.com/office/drawing/2014/main" val="2567006603"/>
                    </a:ext>
                  </a:extLst>
                </a:gridCol>
                <a:gridCol w="5489428">
                  <a:extLst>
                    <a:ext uri="{9D8B030D-6E8A-4147-A177-3AD203B41FA5}">
                      <a16:colId xmlns:a16="http://schemas.microsoft.com/office/drawing/2014/main" val="2569290686"/>
                    </a:ext>
                  </a:extLst>
                </a:gridCol>
              </a:tblGrid>
              <a:tr h="587410">
                <a:tc>
                  <a:txBody>
                    <a:bodyPr/>
                    <a:lstStyle/>
                    <a:p>
                      <a:r>
                        <a:rPr lang="en-US" sz="1800" dirty="0">
                          <a:latin typeface="Times New Roman" panose="02020603050405020304" pitchFamily="18" charset="0"/>
                          <a:cs typeface="Times New Roman" panose="02020603050405020304" pitchFamily="18" charset="0"/>
                        </a:rPr>
                        <a:t>In-situ ( On-site treatment)</a:t>
                      </a:r>
                      <a:endParaRPr lang="en-PG"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Ex-situ (Off-site treatment) </a:t>
                      </a:r>
                      <a:endParaRPr lang="en-PG"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28669571"/>
                  </a:ext>
                </a:extLst>
              </a:tr>
              <a:tr h="587410">
                <a:tc>
                  <a:txBody>
                    <a:bodyPr/>
                    <a:lstStyle/>
                    <a:p>
                      <a:r>
                        <a:rPr lang="en-US" sz="1800" dirty="0">
                          <a:latin typeface="Times New Roman" panose="02020603050405020304" pitchFamily="18" charset="0"/>
                          <a:cs typeface="Times New Roman" panose="02020603050405020304" pitchFamily="18" charset="0"/>
                        </a:rPr>
                        <a:t>Bio-venting </a:t>
                      </a:r>
                      <a:endParaRPr lang="en-PG"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Land-farming </a:t>
                      </a:r>
                      <a:endParaRPr lang="en-PG"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59356603"/>
                  </a:ext>
                </a:extLst>
              </a:tr>
              <a:tr h="587410">
                <a:tc>
                  <a:txBody>
                    <a:bodyPr/>
                    <a:lstStyle/>
                    <a:p>
                      <a:r>
                        <a:rPr lang="en-US" sz="1800" dirty="0">
                          <a:latin typeface="Times New Roman" panose="02020603050405020304" pitchFamily="18" charset="0"/>
                          <a:cs typeface="Times New Roman" panose="02020603050405020304" pitchFamily="18" charset="0"/>
                        </a:rPr>
                        <a:t>Bio-stimulation </a:t>
                      </a:r>
                      <a:endParaRPr lang="en-PG"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Compost </a:t>
                      </a:r>
                      <a:endParaRPr lang="en-PG"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32260670"/>
                  </a:ext>
                </a:extLst>
              </a:tr>
              <a:tr h="704452">
                <a:tc>
                  <a:txBody>
                    <a:bodyPr/>
                    <a:lstStyle/>
                    <a:p>
                      <a:r>
                        <a:rPr lang="en-US" sz="1800" dirty="0">
                          <a:latin typeface="Times New Roman" panose="02020603050405020304" pitchFamily="18" charset="0"/>
                          <a:cs typeface="Times New Roman" panose="02020603050405020304" pitchFamily="18" charset="0"/>
                        </a:rPr>
                        <a:t>Bio-augmentation </a:t>
                      </a:r>
                      <a:endParaRPr lang="en-PG"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Bioreactors </a:t>
                      </a:r>
                      <a:endParaRPr lang="en-PG"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82043327"/>
                  </a:ext>
                </a:extLst>
              </a:tr>
              <a:tr h="330787">
                <a:tc>
                  <a:txBody>
                    <a:bodyPr/>
                    <a:lstStyle/>
                    <a:p>
                      <a:pPr algn="just"/>
                      <a:r>
                        <a:rPr lang="en-US" sz="1800" dirty="0">
                          <a:latin typeface="Times New Roman" panose="02020603050405020304" pitchFamily="18" charset="0"/>
                          <a:cs typeface="Times New Roman" panose="02020603050405020304" pitchFamily="18" charset="0"/>
                        </a:rPr>
                        <a:t>Bio-sparging- </a:t>
                      </a:r>
                      <a:r>
                        <a:rPr lang="en-US" sz="1400" dirty="0">
                          <a:latin typeface="Times New Roman" panose="02020603050405020304" pitchFamily="18" charset="0"/>
                          <a:cs typeface="Times New Roman" panose="02020603050405020304" pitchFamily="18" charset="0"/>
                        </a:rPr>
                        <a:t>a remediation technique that involves injecting pressurized air or gas into contaminated soil to promote the breakdown of pollutants by microbes. </a:t>
                      </a:r>
                      <a:endParaRPr lang="en-PG"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Bio-piles-  </a:t>
                      </a:r>
                      <a:r>
                        <a:rPr lang="en-US" sz="1400" dirty="0">
                          <a:latin typeface="Times New Roman" panose="02020603050405020304" pitchFamily="18" charset="0"/>
                          <a:cs typeface="Times New Roman" panose="02020603050405020304" pitchFamily="18" charset="0"/>
                        </a:rPr>
                        <a:t>are a type of biological treatment system used to remediate contaminated soil, sediment, or other materials. They are essentially large piles of contaminated material that are aerated and maintained under controlled conditions to promote the growth of microorganisms that break down the contaminants.</a:t>
                      </a:r>
                      <a:endParaRPr lang="en-PG"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09117772"/>
                  </a:ext>
                </a:extLst>
              </a:tr>
            </a:tbl>
          </a:graphicData>
        </a:graphic>
      </p:graphicFrame>
    </p:spTree>
    <p:extLst>
      <p:ext uri="{BB962C8B-B14F-4D97-AF65-F5344CB8AC3E}">
        <p14:creationId xmlns:p14="http://schemas.microsoft.com/office/powerpoint/2010/main" val="740859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2E662-291F-6997-A179-B91B089287E5}"/>
              </a:ext>
            </a:extLst>
          </p:cNvPr>
          <p:cNvSpPr>
            <a:spLocks noGrp="1"/>
          </p:cNvSpPr>
          <p:nvPr>
            <p:ph type="title"/>
          </p:nvPr>
        </p:nvSpPr>
        <p:spPr>
          <a:xfrm>
            <a:off x="838200" y="205420"/>
            <a:ext cx="10515600" cy="739775"/>
          </a:xfrm>
        </p:spPr>
        <p:txBody>
          <a:bodyPr>
            <a:normAutofit fontScale="90000"/>
          </a:bodyPr>
          <a:lstStyle/>
          <a:p>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Wastewater treatment using biotechnology </a:t>
            </a:r>
            <a:br>
              <a:rPr lang="en-US" sz="4400" dirty="0">
                <a:latin typeface="Times New Roman" panose="02020603050405020304" pitchFamily="18" charset="0"/>
                <a:cs typeface="Times New Roman" panose="02020603050405020304" pitchFamily="18" charset="0"/>
              </a:rPr>
            </a:br>
            <a:endParaRPr lang="en-PG" dirty="0"/>
          </a:p>
        </p:txBody>
      </p:sp>
      <p:sp>
        <p:nvSpPr>
          <p:cNvPr id="3" name="Content Placeholder 2">
            <a:extLst>
              <a:ext uri="{FF2B5EF4-FFF2-40B4-BE49-F238E27FC236}">
                <a16:creationId xmlns:a16="http://schemas.microsoft.com/office/drawing/2014/main" id="{C85B6148-9C3E-8058-8E7F-804EBFB0AA2B}"/>
              </a:ext>
            </a:extLst>
          </p:cNvPr>
          <p:cNvSpPr>
            <a:spLocks noGrp="1"/>
          </p:cNvSpPr>
          <p:nvPr>
            <p:ph idx="1"/>
          </p:nvPr>
        </p:nvSpPr>
        <p:spPr>
          <a:xfrm>
            <a:off x="785811" y="945195"/>
            <a:ext cx="10982325" cy="5572125"/>
          </a:xfrm>
        </p:spPr>
        <p:txBody>
          <a:bodyPr/>
          <a:lstStyle/>
          <a:p>
            <a:pPr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Wastewater is any water that has been contaminated by human activities, typically through industrial, or agricultures process. It contain variety of pollutants, including organic matter nutrient (N,P,K) and heavy metals, pathogens and other harmful substance. Proper treatment is essential to protect human health, aquatic ecosystem, and the environment. (e.g. Pseudomonas putida, E. Coli) </a:t>
            </a:r>
          </a:p>
          <a:p>
            <a:pPr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Wastewater treatment involves several stages to remove contaminants and make the water safe for discharge or reuse;</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endParaRPr lang="en-PG"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B1250C47-C2BB-5E20-DF91-22EC3C925789}"/>
              </a:ext>
            </a:extLst>
          </p:cNvPr>
          <p:cNvGraphicFramePr>
            <a:graphicFrameLocks noGrp="1"/>
          </p:cNvGraphicFramePr>
          <p:nvPr>
            <p:extLst>
              <p:ext uri="{D42A27DB-BD31-4B8C-83A1-F6EECF244321}">
                <p14:modId xmlns:p14="http://schemas.microsoft.com/office/powerpoint/2010/main" val="3295805121"/>
              </p:ext>
            </p:extLst>
          </p:nvPr>
        </p:nvGraphicFramePr>
        <p:xfrm>
          <a:off x="838197" y="2849247"/>
          <a:ext cx="10877552" cy="3905011"/>
        </p:xfrm>
        <a:graphic>
          <a:graphicData uri="http://schemas.openxmlformats.org/drawingml/2006/table">
            <a:tbl>
              <a:tblPr firstRow="1" bandRow="1">
                <a:tableStyleId>{616DA210-FB5B-4158-B5E0-FEB733F419BA}</a:tableStyleId>
              </a:tblPr>
              <a:tblGrid>
                <a:gridCol w="2719388">
                  <a:extLst>
                    <a:ext uri="{9D8B030D-6E8A-4147-A177-3AD203B41FA5}">
                      <a16:colId xmlns:a16="http://schemas.microsoft.com/office/drawing/2014/main" val="588257223"/>
                    </a:ext>
                  </a:extLst>
                </a:gridCol>
                <a:gridCol w="2719388">
                  <a:extLst>
                    <a:ext uri="{9D8B030D-6E8A-4147-A177-3AD203B41FA5}">
                      <a16:colId xmlns:a16="http://schemas.microsoft.com/office/drawing/2014/main" val="2014240938"/>
                    </a:ext>
                  </a:extLst>
                </a:gridCol>
                <a:gridCol w="2719388">
                  <a:extLst>
                    <a:ext uri="{9D8B030D-6E8A-4147-A177-3AD203B41FA5}">
                      <a16:colId xmlns:a16="http://schemas.microsoft.com/office/drawing/2014/main" val="3940872537"/>
                    </a:ext>
                  </a:extLst>
                </a:gridCol>
                <a:gridCol w="2719388">
                  <a:extLst>
                    <a:ext uri="{9D8B030D-6E8A-4147-A177-3AD203B41FA5}">
                      <a16:colId xmlns:a16="http://schemas.microsoft.com/office/drawing/2014/main" val="2231185796"/>
                    </a:ext>
                  </a:extLst>
                </a:gridCol>
              </a:tblGrid>
              <a:tr h="0">
                <a:tc>
                  <a:txBody>
                    <a:bodyPr/>
                    <a:lstStyle/>
                    <a:p>
                      <a:r>
                        <a:rPr lang="en-US" sz="1600" dirty="0"/>
                        <a:t>Primary treatment </a:t>
                      </a:r>
                      <a:endParaRPr lang="en-PG" sz="1600" dirty="0"/>
                    </a:p>
                  </a:txBody>
                  <a:tcPr/>
                </a:tc>
                <a:tc>
                  <a:txBody>
                    <a:bodyPr/>
                    <a:lstStyle/>
                    <a:p>
                      <a:r>
                        <a:rPr lang="en-US" sz="1600" dirty="0"/>
                        <a:t>Secondary treatment </a:t>
                      </a:r>
                      <a:endParaRPr lang="en-PG" sz="1600" dirty="0"/>
                    </a:p>
                  </a:txBody>
                  <a:tcPr/>
                </a:tc>
                <a:tc>
                  <a:txBody>
                    <a:bodyPr/>
                    <a:lstStyle/>
                    <a:p>
                      <a:r>
                        <a:rPr lang="en-US" sz="1600" dirty="0"/>
                        <a:t>Tertiary treatment </a:t>
                      </a:r>
                      <a:endParaRPr lang="en-PG" sz="1600" dirty="0"/>
                    </a:p>
                  </a:txBody>
                  <a:tcPr/>
                </a:tc>
                <a:tc>
                  <a:txBody>
                    <a:bodyPr/>
                    <a:lstStyle/>
                    <a:p>
                      <a:r>
                        <a:rPr lang="en-US" sz="1600" dirty="0"/>
                        <a:t>Advance treatment </a:t>
                      </a:r>
                      <a:endParaRPr lang="en-PG" sz="1600" dirty="0"/>
                    </a:p>
                  </a:txBody>
                  <a:tcPr/>
                </a:tc>
                <a:extLst>
                  <a:ext uri="{0D108BD9-81ED-4DB2-BD59-A6C34878D82A}">
                    <a16:rowId xmlns:a16="http://schemas.microsoft.com/office/drawing/2014/main" val="1992995099"/>
                  </a:ext>
                </a:extLst>
              </a:tr>
              <a:tr h="454023">
                <a:tc>
                  <a:txBody>
                    <a:bodyPr/>
                    <a:lstStyle/>
                    <a:p>
                      <a:pPr marL="342900" indent="-342900">
                        <a:buFont typeface="+mj-lt"/>
                        <a:buAutoNum type="arabicPeriod"/>
                      </a:pPr>
                      <a:r>
                        <a:rPr lang="en-US" sz="1400" dirty="0"/>
                        <a:t>Screening and grit removal </a:t>
                      </a:r>
                      <a:endParaRPr lang="en-PG" sz="1400" dirty="0"/>
                    </a:p>
                  </a:txBody>
                  <a:tcPr/>
                </a:tc>
                <a:tc>
                  <a:txBody>
                    <a:bodyPr/>
                    <a:lstStyle/>
                    <a:p>
                      <a:r>
                        <a:rPr lang="en-US" dirty="0"/>
                        <a:t>1</a:t>
                      </a:r>
                      <a:r>
                        <a:rPr lang="en-US" sz="1600" dirty="0"/>
                        <a:t>. </a:t>
                      </a:r>
                      <a:r>
                        <a:rPr lang="en-US" sz="1400" dirty="0"/>
                        <a:t>Activated sludge process</a:t>
                      </a:r>
                      <a:endParaRPr lang="en-PG" sz="1400" dirty="0"/>
                    </a:p>
                  </a:txBody>
                  <a:tcPr/>
                </a:tc>
                <a:tc>
                  <a:txBody>
                    <a:bodyPr/>
                    <a:lstStyle/>
                    <a:p>
                      <a:r>
                        <a:rPr lang="en-US" sz="1400" dirty="0"/>
                        <a:t>1. Filtration </a:t>
                      </a:r>
                      <a:endParaRPr lang="en-PG" sz="1400" dirty="0"/>
                    </a:p>
                  </a:txBody>
                  <a:tcPr/>
                </a:tc>
                <a:tc>
                  <a:txBody>
                    <a:bodyPr/>
                    <a:lstStyle/>
                    <a:p>
                      <a:r>
                        <a:rPr lang="en-US" dirty="0"/>
                        <a:t>1. </a:t>
                      </a:r>
                      <a:r>
                        <a:rPr lang="en-US" sz="1400" dirty="0"/>
                        <a:t>Nutrient removal </a:t>
                      </a:r>
                      <a:endParaRPr lang="en-PG" dirty="0"/>
                    </a:p>
                  </a:txBody>
                  <a:tcPr/>
                </a:tc>
                <a:extLst>
                  <a:ext uri="{0D108BD9-81ED-4DB2-BD59-A6C34878D82A}">
                    <a16:rowId xmlns:a16="http://schemas.microsoft.com/office/drawing/2014/main" val="1581350644"/>
                  </a:ext>
                </a:extLst>
              </a:tr>
              <a:tr h="1378348">
                <a:tc>
                  <a:txBody>
                    <a:bodyPr/>
                    <a:lstStyle/>
                    <a:p>
                      <a:pPr marL="285750" indent="-285750">
                        <a:buFont typeface="Arial" panose="020B0604020202020204" pitchFamily="34" charset="0"/>
                        <a:buChar char="•"/>
                      </a:pPr>
                      <a:r>
                        <a:rPr lang="en-US" sz="1400" dirty="0"/>
                        <a:t>Large debris is removed through screens, and grit like sand and gravel is settled out. </a:t>
                      </a:r>
                      <a:endParaRPr lang="en-PG" sz="1400" dirty="0"/>
                    </a:p>
                  </a:txBody>
                  <a:tcPr/>
                </a:tc>
                <a:tc>
                  <a:txBody>
                    <a:bodyPr/>
                    <a:lstStyle/>
                    <a:p>
                      <a:pPr marL="285750" indent="-285750">
                        <a:buFont typeface="Arial" panose="020B0604020202020204" pitchFamily="34" charset="0"/>
                        <a:buChar char="•"/>
                      </a:pPr>
                      <a:r>
                        <a:rPr lang="en-US" sz="1400" dirty="0"/>
                        <a:t>Wastewater is aerated and mixed with micro-organism. Micro-organism consume organic matter, reducing BOD and suspended solids. </a:t>
                      </a:r>
                      <a:endParaRPr lang="en-PG" sz="1400" dirty="0"/>
                    </a:p>
                  </a:txBody>
                  <a:tcPr/>
                </a:tc>
                <a:tc>
                  <a:txBody>
                    <a:bodyPr/>
                    <a:lstStyle/>
                    <a:p>
                      <a:pPr marL="285750" indent="-285750">
                        <a:buFont typeface="Arial" panose="020B0604020202020204" pitchFamily="34" charset="0"/>
                        <a:buChar char="•"/>
                      </a:pPr>
                      <a:r>
                        <a:rPr lang="en-US" sz="1400" dirty="0"/>
                        <a:t>Wastewater passes through sand, gravel, or other filtration media to remove remaining suspended particles. </a:t>
                      </a:r>
                      <a:endParaRPr lang="en-PG" sz="1400" dirty="0"/>
                    </a:p>
                  </a:txBody>
                  <a:tcPr/>
                </a:tc>
                <a:tc>
                  <a:txBody>
                    <a:bodyPr/>
                    <a:lstStyle/>
                    <a:p>
                      <a:pPr marL="285750" indent="-285750">
                        <a:buFont typeface="Arial" panose="020B0604020202020204" pitchFamily="34" charset="0"/>
                        <a:buChar char="•"/>
                      </a:pPr>
                      <a:r>
                        <a:rPr lang="en-US" sz="1400" dirty="0"/>
                        <a:t>Additional processes remove excess nitrogen and phosphorus to prevent eutrophication </a:t>
                      </a:r>
                      <a:endParaRPr lang="en-PG" sz="1400" dirty="0"/>
                    </a:p>
                  </a:txBody>
                  <a:tcPr/>
                </a:tc>
                <a:extLst>
                  <a:ext uri="{0D108BD9-81ED-4DB2-BD59-A6C34878D82A}">
                    <a16:rowId xmlns:a16="http://schemas.microsoft.com/office/drawing/2014/main" val="3182187014"/>
                  </a:ext>
                </a:extLst>
              </a:tr>
              <a:tr h="575641">
                <a:tc>
                  <a:txBody>
                    <a:bodyPr/>
                    <a:lstStyle/>
                    <a:p>
                      <a:pPr marL="0" indent="0">
                        <a:buFont typeface="+mj-lt"/>
                        <a:buNone/>
                      </a:pPr>
                      <a:r>
                        <a:rPr lang="en-US" sz="1400" dirty="0"/>
                        <a:t>2.  Sedimentation </a:t>
                      </a:r>
                      <a:endParaRPr lang="en-PG" sz="1400" dirty="0"/>
                    </a:p>
                  </a:txBody>
                  <a:tcPr/>
                </a:tc>
                <a:tc>
                  <a:txBody>
                    <a:bodyPr/>
                    <a:lstStyle/>
                    <a:p>
                      <a:r>
                        <a:rPr lang="en-US" dirty="0"/>
                        <a:t>2</a:t>
                      </a:r>
                      <a:r>
                        <a:rPr lang="en-US" sz="1400" dirty="0"/>
                        <a:t>. Trickling filters and rotating biological contactors. </a:t>
                      </a:r>
                      <a:endParaRPr lang="en-PG" sz="1400" dirty="0"/>
                    </a:p>
                  </a:txBody>
                  <a:tcPr/>
                </a:tc>
                <a:tc>
                  <a:txBody>
                    <a:bodyPr/>
                    <a:lstStyle/>
                    <a:p>
                      <a:r>
                        <a:rPr lang="en-US" sz="1400" dirty="0"/>
                        <a:t>2. Disinfection </a:t>
                      </a:r>
                      <a:endParaRPr lang="en-PG" sz="1400" dirty="0"/>
                    </a:p>
                  </a:txBody>
                  <a:tcPr/>
                </a:tc>
                <a:tc>
                  <a:txBody>
                    <a:bodyPr/>
                    <a:lstStyle/>
                    <a:p>
                      <a:r>
                        <a:rPr lang="en-US" dirty="0"/>
                        <a:t>2.</a:t>
                      </a:r>
                      <a:r>
                        <a:rPr lang="en-US" sz="1400" dirty="0"/>
                        <a:t> Reuses and Resource Recovery </a:t>
                      </a:r>
                      <a:endParaRPr lang="en-PG" dirty="0"/>
                    </a:p>
                  </a:txBody>
                  <a:tcPr/>
                </a:tc>
                <a:extLst>
                  <a:ext uri="{0D108BD9-81ED-4DB2-BD59-A6C34878D82A}">
                    <a16:rowId xmlns:a16="http://schemas.microsoft.com/office/drawing/2014/main" val="953740440"/>
                  </a:ext>
                </a:extLst>
              </a:tr>
              <a:tr h="885135">
                <a:tc>
                  <a:txBody>
                    <a:bodyPr/>
                    <a:lstStyle/>
                    <a:p>
                      <a:pPr marL="285750" indent="-285750">
                        <a:buFont typeface="Arial" panose="020B0604020202020204" pitchFamily="34" charset="0"/>
                        <a:buChar char="•"/>
                      </a:pPr>
                      <a:r>
                        <a:rPr lang="en-US" sz="1400" dirty="0"/>
                        <a:t>Wastewater is held in tanks, allowing solids to settle as sludge, and oils and fats to float as scum. </a:t>
                      </a:r>
                      <a:endParaRPr lang="en-PG" sz="1400" dirty="0"/>
                    </a:p>
                  </a:txBody>
                  <a:tcPr/>
                </a:tc>
                <a:tc>
                  <a:txBody>
                    <a:bodyPr/>
                    <a:lstStyle/>
                    <a:p>
                      <a:pPr marL="285750" indent="-285750">
                        <a:buFont typeface="Arial" panose="020B0604020202020204" pitchFamily="34" charset="0"/>
                        <a:buChar char="•"/>
                      </a:pPr>
                      <a:r>
                        <a:rPr lang="en-US" sz="1400" dirty="0"/>
                        <a:t>Wastewater is distributed over a medium to promote microbial growth, which degrade organic matter. </a:t>
                      </a:r>
                      <a:endParaRPr lang="en-PG" sz="1400" dirty="0"/>
                    </a:p>
                  </a:txBody>
                  <a:tcPr/>
                </a:tc>
                <a:tc>
                  <a:txBody>
                    <a:bodyPr/>
                    <a:lstStyle/>
                    <a:p>
                      <a:pPr marL="285750" indent="-285750">
                        <a:buFont typeface="Arial" panose="020B0604020202020204" pitchFamily="34" charset="0"/>
                        <a:buChar char="•"/>
                      </a:pPr>
                      <a:r>
                        <a:rPr lang="en-US" sz="1400" dirty="0"/>
                        <a:t>Chemicals (e.g.; chlorine, ozone, UV light) are used to killed remaining pathogens and bacteria. </a:t>
                      </a:r>
                      <a:endParaRPr lang="en-PG" sz="1400" dirty="0"/>
                    </a:p>
                  </a:txBody>
                  <a:tcPr/>
                </a:tc>
                <a:tc>
                  <a:txBody>
                    <a:bodyPr/>
                    <a:lstStyle/>
                    <a:p>
                      <a:pPr marL="285750" indent="-285750">
                        <a:buFont typeface="Arial" panose="020B0604020202020204" pitchFamily="34" charset="0"/>
                        <a:buChar char="•"/>
                      </a:pPr>
                      <a:r>
                        <a:rPr lang="en-US" sz="1400" dirty="0"/>
                        <a:t>Advanced treatment allow for the safe reuse of treated waste water for irrigation, industrial purpose, or even drinking water in some cases. </a:t>
                      </a:r>
                      <a:endParaRPr lang="en-PG" sz="1400" dirty="0"/>
                    </a:p>
                  </a:txBody>
                  <a:tcPr/>
                </a:tc>
                <a:extLst>
                  <a:ext uri="{0D108BD9-81ED-4DB2-BD59-A6C34878D82A}">
                    <a16:rowId xmlns:a16="http://schemas.microsoft.com/office/drawing/2014/main" val="3728677078"/>
                  </a:ext>
                </a:extLst>
              </a:tr>
            </a:tbl>
          </a:graphicData>
        </a:graphic>
      </p:graphicFrame>
    </p:spTree>
    <p:extLst>
      <p:ext uri="{BB962C8B-B14F-4D97-AF65-F5344CB8AC3E}">
        <p14:creationId xmlns:p14="http://schemas.microsoft.com/office/powerpoint/2010/main" val="2532058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0D3C4-C80C-2E1C-C7FC-8CA30C882202}"/>
              </a:ext>
            </a:extLst>
          </p:cNvPr>
          <p:cNvSpPr>
            <a:spLocks noGrp="1"/>
          </p:cNvSpPr>
          <p:nvPr>
            <p:ph type="title"/>
          </p:nvPr>
        </p:nvSpPr>
        <p:spPr>
          <a:xfrm>
            <a:off x="838200" y="365126"/>
            <a:ext cx="10515600" cy="673100"/>
          </a:xfrm>
        </p:spPr>
        <p:txBody>
          <a:bodyPr>
            <a:normAutofit fontScale="90000"/>
          </a:bodyPr>
          <a:lstStyle/>
          <a:p>
            <a:br>
              <a:rPr lang="en-US" sz="4400"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Bioenergy and renewable resource </a:t>
            </a:r>
            <a:br>
              <a:rPr lang="en-US" sz="4400" dirty="0">
                <a:latin typeface="Times New Roman" panose="02020603050405020304" pitchFamily="18" charset="0"/>
                <a:cs typeface="Times New Roman" panose="02020603050405020304" pitchFamily="18" charset="0"/>
              </a:rPr>
            </a:br>
            <a:endParaRPr lang="en-PG" dirty="0"/>
          </a:p>
        </p:txBody>
      </p:sp>
      <p:sp>
        <p:nvSpPr>
          <p:cNvPr id="3" name="Content Placeholder 2">
            <a:extLst>
              <a:ext uri="{FF2B5EF4-FFF2-40B4-BE49-F238E27FC236}">
                <a16:creationId xmlns:a16="http://schemas.microsoft.com/office/drawing/2014/main" id="{D471E228-5CA9-785F-DD40-D450C9932666}"/>
              </a:ext>
            </a:extLst>
          </p:cNvPr>
          <p:cNvSpPr>
            <a:spLocks noGrp="1"/>
          </p:cNvSpPr>
          <p:nvPr>
            <p:ph idx="1"/>
          </p:nvPr>
        </p:nvSpPr>
        <p:spPr>
          <a:xfrm>
            <a:off x="838200" y="1038225"/>
            <a:ext cx="10515600" cy="5734049"/>
          </a:xfrm>
        </p:spPr>
        <p:txBody>
          <a:bodyPr>
            <a:normAutofit fontScale="70000" lnSpcReduction="20000"/>
          </a:bodyPr>
          <a:lstStyle/>
          <a:p>
            <a:pPr marR="0" lvl="0" algn="just" rtl="0">
              <a:buFont typeface="Wingdings" panose="05000000000000000000" pitchFamily="2" charset="2"/>
              <a:buChar char="q"/>
            </a:pPr>
            <a:r>
              <a:rPr lang="en-US" sz="2800" b="0" i="0" u="none" strike="noStrike" baseline="0" dirty="0">
                <a:latin typeface="Times New Roman" panose="02020603050405020304" pitchFamily="18" charset="0"/>
              </a:rPr>
              <a:t>Bioenergy is derived from biological sources and serves as a renewable alternative to fossil fuels. It reduces carbon emissions and promotes sustainability.</a:t>
            </a:r>
          </a:p>
          <a:p>
            <a:pPr marR="0" lvl="0" algn="just" rtl="0">
              <a:buFont typeface="Wingdings" panose="05000000000000000000" pitchFamily="2" charset="2"/>
              <a:buChar char="q"/>
            </a:pPr>
            <a:r>
              <a:rPr lang="en-US" sz="2800" b="0" i="0" u="none" strike="noStrike" baseline="0" dirty="0">
                <a:latin typeface="Times New Roman" panose="02020603050405020304" pitchFamily="18" charset="0"/>
              </a:rPr>
              <a:t>Types of Biofuels</a:t>
            </a:r>
          </a:p>
          <a:p>
            <a:pPr marR="0" lvl="0" algn="just" rtl="0"/>
            <a:r>
              <a:rPr lang="en-US" sz="2800" b="0" i="1" u="none" strike="noStrike" baseline="0" dirty="0">
                <a:latin typeface="Times New Roman" panose="02020603050405020304" pitchFamily="18" charset="0"/>
              </a:rPr>
              <a:t>Biodiesel</a:t>
            </a:r>
            <a:r>
              <a:rPr lang="en-US" sz="2800" b="0" i="0" u="none" strike="noStrike" baseline="0" dirty="0">
                <a:latin typeface="Times New Roman" panose="02020603050405020304" pitchFamily="18" charset="0"/>
              </a:rPr>
              <a:t> – Produced from algae and vegetable oils; a cleaner alternative to petroleum diesel.</a:t>
            </a:r>
          </a:p>
          <a:p>
            <a:pPr marR="0" lvl="0" algn="just" rtl="0"/>
            <a:r>
              <a:rPr lang="en-US" sz="2800" b="0" i="1" u="none" strike="noStrike" baseline="0" dirty="0">
                <a:latin typeface="Times New Roman" panose="02020603050405020304" pitchFamily="18" charset="0"/>
              </a:rPr>
              <a:t>Bioethanol</a:t>
            </a:r>
            <a:r>
              <a:rPr lang="en-US" sz="2800" b="0" i="0" u="none" strike="noStrike" baseline="0" dirty="0">
                <a:latin typeface="Times New Roman" panose="02020603050405020304" pitchFamily="18" charset="0"/>
              </a:rPr>
              <a:t> – Made from fermenting sugarcane, corn, or cellulose; used as a gasoline substitute.</a:t>
            </a:r>
          </a:p>
          <a:p>
            <a:pPr marR="0" lvl="0" algn="just" rtl="0"/>
            <a:r>
              <a:rPr lang="en-US" sz="2800" b="0" i="1" u="none" strike="noStrike" baseline="0" dirty="0">
                <a:latin typeface="Times New Roman" panose="02020603050405020304" pitchFamily="18" charset="0"/>
              </a:rPr>
              <a:t>Biogas</a:t>
            </a:r>
            <a:r>
              <a:rPr lang="en-US" sz="2800" b="0" i="0" u="none" strike="noStrike" baseline="0" dirty="0">
                <a:latin typeface="Times New Roman" panose="02020603050405020304" pitchFamily="18" charset="0"/>
              </a:rPr>
              <a:t> – Composed of methane, generated from organic waste decomposition through anaerobic digestion.</a:t>
            </a:r>
          </a:p>
          <a:p>
            <a:pPr marR="0" lvl="0" algn="just" rtl="0">
              <a:buFont typeface="Wingdings" panose="05000000000000000000" pitchFamily="2" charset="2"/>
              <a:buChar char="q"/>
            </a:pPr>
            <a:r>
              <a:rPr lang="en-US" sz="2800" b="0" i="0" u="none" strike="noStrike" baseline="0" dirty="0">
                <a:latin typeface="Times New Roman" panose="02020603050405020304" pitchFamily="18" charset="0"/>
              </a:rPr>
              <a:t>Advantages of Bioenergy</a:t>
            </a:r>
          </a:p>
          <a:p>
            <a:pPr marR="0" lvl="0" algn="just" rtl="0"/>
            <a:r>
              <a:rPr lang="en-US" sz="2800" b="0" i="1" u="none" strike="noStrike" baseline="0" dirty="0">
                <a:latin typeface="Times New Roman" panose="02020603050405020304" pitchFamily="18" charset="0"/>
              </a:rPr>
              <a:t>Carbon-Neutral</a:t>
            </a:r>
            <a:r>
              <a:rPr lang="en-US" sz="2800" b="0" i="0" u="none" strike="noStrike" baseline="0" dirty="0">
                <a:latin typeface="Times New Roman" panose="02020603050405020304" pitchFamily="18" charset="0"/>
              </a:rPr>
              <a:t>: Reduces greenhouse gas emissions by recycling atmospheric CO₂.</a:t>
            </a:r>
          </a:p>
          <a:p>
            <a:pPr marR="0" lvl="0" algn="just" rtl="0"/>
            <a:r>
              <a:rPr lang="en-US" sz="2800" b="0" i="1" u="none" strike="noStrike" baseline="0" dirty="0">
                <a:latin typeface="Times New Roman" panose="02020603050405020304" pitchFamily="18" charset="0"/>
              </a:rPr>
              <a:t>Sustainable</a:t>
            </a:r>
            <a:r>
              <a:rPr lang="en-US" sz="2800" b="0" i="0" u="none" strike="noStrike" baseline="0" dirty="0">
                <a:latin typeface="Times New Roman" panose="02020603050405020304" pitchFamily="18" charset="0"/>
              </a:rPr>
              <a:t>: Derived from renewable biomass sources.</a:t>
            </a:r>
          </a:p>
          <a:p>
            <a:pPr marR="0" lvl="0" algn="just" rtl="0"/>
            <a:r>
              <a:rPr lang="en-US" sz="2800" b="0" i="1" u="none" strike="noStrike" baseline="0" dirty="0">
                <a:latin typeface="Times New Roman" panose="02020603050405020304" pitchFamily="18" charset="0"/>
              </a:rPr>
              <a:t>Waste Utilization</a:t>
            </a:r>
            <a:r>
              <a:rPr lang="en-US" sz="2800" b="0" i="0" u="none" strike="noStrike" baseline="0" dirty="0">
                <a:latin typeface="Times New Roman" panose="02020603050405020304" pitchFamily="18" charset="0"/>
              </a:rPr>
              <a:t>: Converts agricultural and organic waste into energy.</a:t>
            </a:r>
          </a:p>
          <a:p>
            <a:pPr marR="0" lvl="0" algn="just" rtl="0">
              <a:buFont typeface="Wingdings" panose="05000000000000000000" pitchFamily="2" charset="2"/>
              <a:buChar char="q"/>
            </a:pPr>
            <a:r>
              <a:rPr lang="en-US" sz="2800" b="0" i="0" u="none" strike="noStrike" baseline="0" dirty="0">
                <a:latin typeface="Times New Roman" panose="02020603050405020304" pitchFamily="18" charset="0"/>
              </a:rPr>
              <a:t>Challenges of Bioenergy</a:t>
            </a:r>
          </a:p>
          <a:p>
            <a:pPr marR="0" lvl="0" algn="just" rtl="0"/>
            <a:r>
              <a:rPr lang="en-US" sz="2800" b="0" i="1" u="none" strike="noStrike" baseline="0" dirty="0">
                <a:latin typeface="Times New Roman" panose="02020603050405020304" pitchFamily="18" charset="0"/>
              </a:rPr>
              <a:t>High Costs: </a:t>
            </a:r>
            <a:r>
              <a:rPr lang="en-US" sz="2800" b="0" i="0" u="none" strike="noStrike" baseline="0" dirty="0">
                <a:latin typeface="Times New Roman" panose="02020603050405020304" pitchFamily="18" charset="0"/>
              </a:rPr>
              <a:t>Production and refining technologies require significant investment.</a:t>
            </a:r>
          </a:p>
          <a:p>
            <a:pPr marR="0" lvl="0" algn="just" rtl="0"/>
            <a:r>
              <a:rPr lang="en-US" sz="2800" b="0" i="1" u="none" strike="noStrike" baseline="0" dirty="0">
                <a:latin typeface="Times New Roman" panose="02020603050405020304" pitchFamily="18" charset="0"/>
              </a:rPr>
              <a:t>Efficiency Issues</a:t>
            </a:r>
            <a:r>
              <a:rPr lang="en-US" sz="2800" b="0" i="0" u="none" strike="noStrike" baseline="0" dirty="0">
                <a:latin typeface="Times New Roman" panose="02020603050405020304" pitchFamily="18" charset="0"/>
              </a:rPr>
              <a:t>: Some biofuels have lower energy output than fossil fuels.</a:t>
            </a:r>
          </a:p>
          <a:p>
            <a:pPr marR="0" lvl="0" algn="just" rtl="0"/>
            <a:r>
              <a:rPr lang="en-US" sz="2800" b="0" i="1" u="none" strike="noStrike" baseline="0" dirty="0">
                <a:latin typeface="Times New Roman" panose="02020603050405020304" pitchFamily="18" charset="0"/>
              </a:rPr>
              <a:t>Land Use Concerns</a:t>
            </a:r>
            <a:r>
              <a:rPr lang="en-US" sz="2800" b="0" i="0" u="none" strike="noStrike" baseline="0" dirty="0">
                <a:latin typeface="Times New Roman" panose="02020603050405020304" pitchFamily="18" charset="0"/>
              </a:rPr>
              <a:t>: Large-scale biofuel production competes with food crops, impacting food security.</a:t>
            </a:r>
          </a:p>
          <a:p>
            <a:endParaRPr lang="en-PG" dirty="0"/>
          </a:p>
        </p:txBody>
      </p:sp>
    </p:spTree>
    <p:extLst>
      <p:ext uri="{BB962C8B-B14F-4D97-AF65-F5344CB8AC3E}">
        <p14:creationId xmlns:p14="http://schemas.microsoft.com/office/powerpoint/2010/main" val="331935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8D2A-CCC4-A6EC-E108-940C9D935F60}"/>
              </a:ext>
            </a:extLst>
          </p:cNvPr>
          <p:cNvSpPr>
            <a:spLocks noGrp="1"/>
          </p:cNvSpPr>
          <p:nvPr>
            <p:ph type="title"/>
          </p:nvPr>
        </p:nvSpPr>
        <p:spPr>
          <a:xfrm>
            <a:off x="838200" y="225847"/>
            <a:ext cx="10515600" cy="787400"/>
          </a:xfrm>
        </p:spPr>
        <p:txBody>
          <a:bodyPr>
            <a:normAutofit fontScale="90000"/>
          </a:bodyPr>
          <a:lstStyle/>
          <a:p>
            <a:br>
              <a:rPr lang="en-US" sz="44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Phytoremediation and green solution </a:t>
            </a:r>
            <a:br>
              <a:rPr lang="en-US" sz="4400" dirty="0">
                <a:latin typeface="Times New Roman" panose="02020603050405020304" pitchFamily="18" charset="0"/>
                <a:cs typeface="Times New Roman" panose="02020603050405020304" pitchFamily="18" charset="0"/>
              </a:rPr>
            </a:br>
            <a:endParaRPr lang="en-PG" dirty="0"/>
          </a:p>
        </p:txBody>
      </p:sp>
      <p:sp>
        <p:nvSpPr>
          <p:cNvPr id="3" name="Content Placeholder 2">
            <a:extLst>
              <a:ext uri="{FF2B5EF4-FFF2-40B4-BE49-F238E27FC236}">
                <a16:creationId xmlns:a16="http://schemas.microsoft.com/office/drawing/2014/main" id="{F3B7130D-0C6C-6F1E-CF0B-10C3CFB4E821}"/>
              </a:ext>
            </a:extLst>
          </p:cNvPr>
          <p:cNvSpPr>
            <a:spLocks noGrp="1"/>
          </p:cNvSpPr>
          <p:nvPr>
            <p:ph idx="1"/>
          </p:nvPr>
        </p:nvSpPr>
        <p:spPr>
          <a:xfrm>
            <a:off x="838200" y="831576"/>
            <a:ext cx="10515600" cy="5744837"/>
          </a:xfrm>
        </p:spPr>
        <p:txBody>
          <a:bodyPr>
            <a:noAutofit/>
          </a:bodyPr>
          <a:lstStyle/>
          <a:p>
            <a:pPr algn="just">
              <a:buFont typeface="Wingdings" panose="05000000000000000000" pitchFamily="2" charset="2"/>
              <a:buChar char="q"/>
            </a:pPr>
            <a:r>
              <a:rPr lang="en-US" sz="2400" dirty="0"/>
              <a:t> </a:t>
            </a:r>
            <a:r>
              <a:rPr lang="en-US" sz="2000" dirty="0">
                <a:latin typeface="Times New Roman" panose="02020603050405020304" pitchFamily="18" charset="0"/>
                <a:cs typeface="Times New Roman" panose="02020603050405020304" pitchFamily="18" charset="0"/>
              </a:rPr>
              <a:t>Phytoremediation is a green technology that uses plants to remove pollutants from soil, water, and air. It's an environmentally friendly and cost-effective way to clean up contaminated areas. (e.g. Sunflower) </a:t>
            </a:r>
          </a:p>
          <a:p>
            <a:pPr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Types of phytoremediation </a:t>
            </a:r>
          </a:p>
          <a:p>
            <a:pPr marL="342900" indent="-342900" algn="just">
              <a:buFont typeface="+mj-lt"/>
              <a:buAutoNum type="arabicParenR"/>
            </a:pPr>
            <a:r>
              <a:rPr lang="en-US" sz="2000" dirty="0">
                <a:latin typeface="Times New Roman" panose="02020603050405020304" pitchFamily="18" charset="0"/>
                <a:cs typeface="Times New Roman" panose="02020603050405020304" pitchFamily="18" charset="0"/>
              </a:rPr>
              <a:t>Phytoextraction;  Plants absorb metals from the soil and transport them to their leaves and shoots, where they can be harvested and removed </a:t>
            </a:r>
          </a:p>
          <a:p>
            <a:pPr marL="342900" indent="-342900" algn="just">
              <a:buFont typeface="+mj-lt"/>
              <a:buAutoNum type="arabicParenR"/>
            </a:pPr>
            <a:r>
              <a:rPr lang="en-US" sz="2000" dirty="0">
                <a:latin typeface="Times New Roman" panose="02020603050405020304" pitchFamily="18" charset="0"/>
                <a:cs typeface="Times New Roman" panose="02020603050405020304" pitchFamily="18" charset="0"/>
              </a:rPr>
              <a:t>Phyto stabilization: Plants use their roots to bind contaminants in the soil, preventing them from moving into groundwater </a:t>
            </a:r>
          </a:p>
          <a:p>
            <a:pPr marL="342900" indent="-342900" algn="just">
              <a:buFont typeface="+mj-lt"/>
              <a:buAutoNum type="arabicParenR"/>
            </a:pPr>
            <a:r>
              <a:rPr lang="en-US" sz="2000" dirty="0">
                <a:latin typeface="Times New Roman" panose="02020603050405020304" pitchFamily="18" charset="0"/>
                <a:cs typeface="Times New Roman" panose="02020603050405020304" pitchFamily="18" charset="0"/>
              </a:rPr>
              <a:t>Phytodegradation: Plants and microorganisms work together to break down pollutants like herbicides and chlorinated solvents </a:t>
            </a:r>
          </a:p>
          <a:p>
            <a:pPr marL="342900" indent="-342900" algn="just">
              <a:buFont typeface="+mj-lt"/>
              <a:buAutoNum type="arabicParenR"/>
            </a:pPr>
            <a:r>
              <a:rPr lang="en-US" sz="2000" dirty="0">
                <a:latin typeface="Times New Roman" panose="02020603050405020304" pitchFamily="18" charset="0"/>
                <a:cs typeface="Times New Roman" panose="02020603050405020304" pitchFamily="18" charset="0"/>
              </a:rPr>
              <a:t>Phytovolatilization: Plants absorb water and contaminants from the soil, then release the contaminants as gases into the air </a:t>
            </a:r>
          </a:p>
          <a:p>
            <a:pPr marL="342900" indent="-342900" algn="just">
              <a:buFont typeface="+mj-lt"/>
              <a:buAutoNum type="arabicParenR"/>
            </a:pPr>
            <a:r>
              <a:rPr lang="en-US" sz="2000" dirty="0">
                <a:latin typeface="Times New Roman" panose="02020603050405020304" pitchFamily="18" charset="0"/>
                <a:cs typeface="Times New Roman" panose="02020603050405020304" pitchFamily="18" charset="0"/>
              </a:rPr>
              <a:t>Rhizofiltration: A combination of phytoextraction and Phyto stabilization, this technique uses plants to absorb, concentrate, and precipitate contaminants from water.</a:t>
            </a:r>
          </a:p>
          <a:p>
            <a:pPr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Phytoremediation is an environmental biotechnology that uses plants to clean up pollutants in soil and water. It's a cost-effective and eco-friendly technique. </a:t>
            </a:r>
            <a:endParaRPr lang="en-PG"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5617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61FF4-66CE-7A3C-C76D-5FDC0D9ACC9C}"/>
              </a:ext>
            </a:extLst>
          </p:cNvPr>
          <p:cNvSpPr>
            <a:spLocks noGrp="1"/>
          </p:cNvSpPr>
          <p:nvPr>
            <p:ph type="title"/>
          </p:nvPr>
        </p:nvSpPr>
        <p:spPr>
          <a:xfrm>
            <a:off x="247650" y="365126"/>
            <a:ext cx="11563350" cy="558799"/>
          </a:xfrm>
        </p:spPr>
        <p:txBody>
          <a:bodyPr>
            <a:normAutofit fontScale="90000"/>
          </a:bodyPr>
          <a:lstStyle/>
          <a:p>
            <a:br>
              <a:rPr lang="en-US"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Genetic Manipulation strategies in Environmental biotechnology</a:t>
            </a:r>
            <a:br>
              <a:rPr lang="en-US" sz="3600" dirty="0">
                <a:latin typeface="Times New Roman" panose="02020603050405020304" pitchFamily="18" charset="0"/>
                <a:cs typeface="Times New Roman" panose="02020603050405020304" pitchFamily="18" charset="0"/>
              </a:rPr>
            </a:br>
            <a:endParaRPr lang="en-PG" dirty="0"/>
          </a:p>
        </p:txBody>
      </p:sp>
      <p:sp>
        <p:nvSpPr>
          <p:cNvPr id="3" name="Content Placeholder 2">
            <a:extLst>
              <a:ext uri="{FF2B5EF4-FFF2-40B4-BE49-F238E27FC236}">
                <a16:creationId xmlns:a16="http://schemas.microsoft.com/office/drawing/2014/main" id="{FE1B99E7-3E51-C177-0DEF-07F02A9A4EAE}"/>
              </a:ext>
            </a:extLst>
          </p:cNvPr>
          <p:cNvSpPr>
            <a:spLocks noGrp="1"/>
          </p:cNvSpPr>
          <p:nvPr>
            <p:ph idx="1"/>
          </p:nvPr>
        </p:nvSpPr>
        <p:spPr>
          <a:xfrm>
            <a:off x="447677" y="1253330"/>
            <a:ext cx="11469801" cy="5548455"/>
          </a:xfrm>
        </p:spPr>
        <p:txBody>
          <a:bodyPr/>
          <a:lstStyle/>
          <a:p>
            <a:pPr algn="just">
              <a:buFont typeface="Wingdings" panose="05000000000000000000" pitchFamily="2" charset="2"/>
              <a:buChar char="q"/>
            </a:pPr>
            <a:r>
              <a:rPr lang="en-US" sz="1800" b="0" i="0" u="none" strike="noStrike" baseline="0" dirty="0">
                <a:latin typeface="Times New Roman" panose="02020603050405020304" pitchFamily="18" charset="0"/>
              </a:rPr>
              <a:t>Environmental genomics and synthetic biology use advanced genetic tools to study and engineer microorganisms for pollution control and ecosystem restoration. Using DNA sequencing to study microbial communities in polluted sites.</a:t>
            </a:r>
          </a:p>
          <a:p>
            <a:endParaRPr lang="en-US" dirty="0"/>
          </a:p>
        </p:txBody>
      </p:sp>
      <p:graphicFrame>
        <p:nvGraphicFramePr>
          <p:cNvPr id="4" name="Table 3">
            <a:extLst>
              <a:ext uri="{FF2B5EF4-FFF2-40B4-BE49-F238E27FC236}">
                <a16:creationId xmlns:a16="http://schemas.microsoft.com/office/drawing/2014/main" id="{59CF03F4-4A9D-D830-FF66-81138CD666E2}"/>
              </a:ext>
            </a:extLst>
          </p:cNvPr>
          <p:cNvGraphicFramePr>
            <a:graphicFrameLocks noGrp="1"/>
          </p:cNvGraphicFramePr>
          <p:nvPr>
            <p:extLst>
              <p:ext uri="{D42A27DB-BD31-4B8C-83A1-F6EECF244321}">
                <p14:modId xmlns:p14="http://schemas.microsoft.com/office/powerpoint/2010/main" val="2137322722"/>
              </p:ext>
            </p:extLst>
          </p:nvPr>
        </p:nvGraphicFramePr>
        <p:xfrm>
          <a:off x="593452" y="2209799"/>
          <a:ext cx="11150871" cy="3336250"/>
        </p:xfrm>
        <a:graphic>
          <a:graphicData uri="http://schemas.openxmlformats.org/drawingml/2006/table">
            <a:tbl>
              <a:tblPr firstRow="1" bandRow="1">
                <a:tableStyleId>{616DA210-FB5B-4158-B5E0-FEB733F419BA}</a:tableStyleId>
              </a:tblPr>
              <a:tblGrid>
                <a:gridCol w="2260112">
                  <a:extLst>
                    <a:ext uri="{9D8B030D-6E8A-4147-A177-3AD203B41FA5}">
                      <a16:colId xmlns:a16="http://schemas.microsoft.com/office/drawing/2014/main" val="940105320"/>
                    </a:ext>
                  </a:extLst>
                </a:gridCol>
                <a:gridCol w="2652374">
                  <a:extLst>
                    <a:ext uri="{9D8B030D-6E8A-4147-A177-3AD203B41FA5}">
                      <a16:colId xmlns:a16="http://schemas.microsoft.com/office/drawing/2014/main" val="3753166096"/>
                    </a:ext>
                  </a:extLst>
                </a:gridCol>
                <a:gridCol w="3392388">
                  <a:extLst>
                    <a:ext uri="{9D8B030D-6E8A-4147-A177-3AD203B41FA5}">
                      <a16:colId xmlns:a16="http://schemas.microsoft.com/office/drawing/2014/main" val="2294729832"/>
                    </a:ext>
                  </a:extLst>
                </a:gridCol>
                <a:gridCol w="2845997">
                  <a:extLst>
                    <a:ext uri="{9D8B030D-6E8A-4147-A177-3AD203B41FA5}">
                      <a16:colId xmlns:a16="http://schemas.microsoft.com/office/drawing/2014/main" val="1575023093"/>
                    </a:ext>
                  </a:extLst>
                </a:gridCol>
              </a:tblGrid>
              <a:tr h="562570">
                <a:tc>
                  <a:txBody>
                    <a:bodyPr/>
                    <a:lstStyle/>
                    <a:p>
                      <a:r>
                        <a:rPr lang="en-US" dirty="0"/>
                        <a:t>Genetic engineering</a:t>
                      </a:r>
                      <a:endParaRPr lang="en-PG" dirty="0"/>
                    </a:p>
                  </a:txBody>
                  <a:tcPr/>
                </a:tc>
                <a:tc>
                  <a:txBody>
                    <a:bodyPr/>
                    <a:lstStyle/>
                    <a:p>
                      <a:r>
                        <a:rPr lang="en-US" dirty="0"/>
                        <a:t>Gene cloning </a:t>
                      </a:r>
                      <a:endParaRPr lang="en-PG" dirty="0"/>
                    </a:p>
                  </a:txBody>
                  <a:tcPr/>
                </a:tc>
                <a:tc>
                  <a:txBody>
                    <a:bodyPr/>
                    <a:lstStyle/>
                    <a:p>
                      <a:r>
                        <a:rPr lang="en-US" dirty="0"/>
                        <a:t>Recombinant DNA technology </a:t>
                      </a:r>
                      <a:endParaRPr lang="en-PG" dirty="0"/>
                    </a:p>
                  </a:txBody>
                  <a:tcPr/>
                </a:tc>
                <a:tc>
                  <a:txBody>
                    <a:bodyPr/>
                    <a:lstStyle/>
                    <a:p>
                      <a:r>
                        <a:rPr lang="en-US" dirty="0"/>
                        <a:t>CRISPR-Case9 technology </a:t>
                      </a:r>
                      <a:endParaRPr lang="en-PG" dirty="0"/>
                    </a:p>
                  </a:txBody>
                  <a:tcPr/>
                </a:tc>
                <a:extLst>
                  <a:ext uri="{0D108BD9-81ED-4DB2-BD59-A6C34878D82A}">
                    <a16:rowId xmlns:a16="http://schemas.microsoft.com/office/drawing/2014/main" val="3998943094"/>
                  </a:ext>
                </a:extLst>
              </a:tr>
              <a:tr h="1224346">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 Genetic engineering it involves modifying of an organism genetic material using molecule techniques (CRISPR-case9 technology) </a:t>
                      </a:r>
                      <a:endParaRPr lang="en-PG" sz="14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Is a crucial techniques that were we can isolate and make copies of a specific gene to produce large quantities of a particular protein of enzymes </a:t>
                      </a:r>
                    </a:p>
                    <a:p>
                      <a:endParaRPr lang="en-PG" sz="16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It involves the combining DNA form different sources to create genetically modified organism(GMO) with desired characteristics. </a:t>
                      </a:r>
                      <a:endParaRPr lang="en-PG" sz="14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It is a revolutionary tool for precise gene editing and modification in organism. </a:t>
                      </a:r>
                      <a:endParaRPr lang="en-PG"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18320235"/>
                  </a:ext>
                </a:extLst>
              </a:tr>
              <a:tr h="1098303">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Enables the development of organism with enhance capabilities for environmental application like pollution clean up etc. </a:t>
                      </a:r>
                      <a:endParaRPr lang="en-PG" sz="14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Essential for engineering microorganism with desired traits for environmental purposes </a:t>
                      </a:r>
                      <a:endParaRPr lang="en-PG" sz="14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Used to develop organism capable of pollutant degradation, nutrient cycling, or other environmental function </a:t>
                      </a:r>
                      <a:endParaRPr lang="en-PG" sz="14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This technology allows targeted modification the genome to enhance environmental performance of organism.  </a:t>
                      </a:r>
                      <a:endParaRPr lang="en-PG"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68748798"/>
                  </a:ext>
                </a:extLst>
              </a:tr>
            </a:tbl>
          </a:graphicData>
        </a:graphic>
      </p:graphicFrame>
      <p:sp>
        <p:nvSpPr>
          <p:cNvPr id="5" name="TextBox 4">
            <a:extLst>
              <a:ext uri="{FF2B5EF4-FFF2-40B4-BE49-F238E27FC236}">
                <a16:creationId xmlns:a16="http://schemas.microsoft.com/office/drawing/2014/main" id="{EB03731D-AE85-1443-9805-8C753618D98F}"/>
              </a:ext>
            </a:extLst>
          </p:cNvPr>
          <p:cNvSpPr txBox="1"/>
          <p:nvPr/>
        </p:nvSpPr>
        <p:spPr>
          <a:xfrm>
            <a:off x="593452" y="5601456"/>
            <a:ext cx="11150871" cy="1200329"/>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By employing these genetic manipulation strategies, were essential empowering organism become to environmental superheroes. These technology enable us to finetune and optimize their abilities to address critical environmental challenges. They hold immense promise for sustainable future where we work hand in hand with nature to restore and protect our precious environment. </a:t>
            </a:r>
            <a:endParaRPr lang="en-P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3854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10AF8-CDF6-2807-9450-1268BB4A711E}"/>
              </a:ext>
            </a:extLst>
          </p:cNvPr>
          <p:cNvSpPr>
            <a:spLocks noGrp="1"/>
          </p:cNvSpPr>
          <p:nvPr>
            <p:ph type="title"/>
          </p:nvPr>
        </p:nvSpPr>
        <p:spPr>
          <a:xfrm>
            <a:off x="838200" y="365126"/>
            <a:ext cx="10515600" cy="596900"/>
          </a:xfrm>
        </p:spPr>
        <p:txBody>
          <a:bodyPr>
            <a:normAutofit/>
          </a:bodyPr>
          <a:lstStyle/>
          <a:p>
            <a:r>
              <a:rPr lang="en-US" sz="3600" b="1" dirty="0">
                <a:latin typeface="Times New Roman" panose="02020603050405020304" pitchFamily="18" charset="0"/>
                <a:cs typeface="Times New Roman" panose="02020603050405020304" pitchFamily="18" charset="0"/>
              </a:rPr>
              <a:t>Conclusion and Future Perspectives</a:t>
            </a:r>
            <a:endParaRPr lang="en-PG" sz="3600" b="1" dirty="0"/>
          </a:p>
        </p:txBody>
      </p:sp>
      <p:sp>
        <p:nvSpPr>
          <p:cNvPr id="3" name="Content Placeholder 2">
            <a:extLst>
              <a:ext uri="{FF2B5EF4-FFF2-40B4-BE49-F238E27FC236}">
                <a16:creationId xmlns:a16="http://schemas.microsoft.com/office/drawing/2014/main" id="{D8A58187-6155-88F8-508C-6C5A1AF4D440}"/>
              </a:ext>
            </a:extLst>
          </p:cNvPr>
          <p:cNvSpPr>
            <a:spLocks noGrp="1"/>
          </p:cNvSpPr>
          <p:nvPr>
            <p:ph idx="1"/>
          </p:nvPr>
        </p:nvSpPr>
        <p:spPr>
          <a:xfrm>
            <a:off x="838200" y="1054100"/>
            <a:ext cx="10515600" cy="5708650"/>
          </a:xfrm>
        </p:spPr>
        <p:txBody>
          <a:bodyPr>
            <a:normAutofit fontScale="85000" lnSpcReduction="20000"/>
          </a:bodyPr>
          <a:lstStyle/>
          <a:p>
            <a:pPr marR="0" lvl="0" rtl="0">
              <a:buFont typeface="Wingdings" panose="05000000000000000000" pitchFamily="2" charset="2"/>
              <a:buChar char="q"/>
            </a:pPr>
            <a:r>
              <a:rPr lang="en-US" sz="2800" b="0" i="0" u="none" strike="noStrike" baseline="0" dirty="0">
                <a:latin typeface="Times New Roman" panose="02020603050405020304" pitchFamily="18" charset="0"/>
              </a:rPr>
              <a:t>Environmental Biotechnology for Sustainable Development:</a:t>
            </a:r>
          </a:p>
          <a:p>
            <a:pPr marR="0" lvl="0" rtl="0"/>
            <a:r>
              <a:rPr lang="en-US" sz="2800" b="0" i="0" u="none" strike="noStrike" baseline="0" dirty="0">
                <a:latin typeface="Times New Roman" panose="02020603050405020304" pitchFamily="18" charset="0"/>
              </a:rPr>
              <a:t>    Essential for pollution control, waste management, and biodiversity conservation.</a:t>
            </a:r>
          </a:p>
          <a:p>
            <a:pPr marR="0" lvl="0" rtl="0"/>
            <a:r>
              <a:rPr lang="en-US" sz="2800" b="0" i="0" u="none" strike="noStrike" baseline="0" dirty="0">
                <a:latin typeface="Times New Roman" panose="02020603050405020304" pitchFamily="18" charset="0"/>
              </a:rPr>
              <a:t>    Supports climate change mitigation through nature-based solutions.</a:t>
            </a:r>
          </a:p>
          <a:p>
            <a:pPr marR="0" lvl="0" rtl="0">
              <a:buFont typeface="Wingdings" panose="05000000000000000000" pitchFamily="2" charset="2"/>
              <a:buChar char="q"/>
            </a:pPr>
            <a:r>
              <a:rPr lang="en-US" sz="2800" b="0" i="0" u="none" strike="noStrike" baseline="0" dirty="0">
                <a:latin typeface="Times New Roman" panose="02020603050405020304" pitchFamily="18" charset="0"/>
              </a:rPr>
              <a:t>Innovations in Microbial Engineering, Bioenergy, and Ecosystem Restoration:</a:t>
            </a:r>
          </a:p>
          <a:p>
            <a:pPr marR="0" lvl="0" rtl="0"/>
            <a:r>
              <a:rPr lang="en-US" sz="2800" b="0" i="0" u="none" strike="noStrike" baseline="0" dirty="0">
                <a:latin typeface="Times New Roman" panose="02020603050405020304" pitchFamily="18" charset="0"/>
              </a:rPr>
              <a:t> </a:t>
            </a:r>
            <a:r>
              <a:rPr lang="en-US" sz="2800" b="0" i="1" u="none" strike="noStrike" baseline="0" dirty="0">
                <a:latin typeface="Times New Roman" panose="02020603050405020304" pitchFamily="18" charset="0"/>
              </a:rPr>
              <a:t>Microbial Engineering</a:t>
            </a:r>
            <a:r>
              <a:rPr lang="en-US" sz="2800" b="0" i="0" u="none" strike="noStrike" baseline="0" dirty="0">
                <a:latin typeface="Times New Roman" panose="02020603050405020304" pitchFamily="18" charset="0"/>
              </a:rPr>
              <a:t>: Engineered bacteria for bioremediation and waste decomposition.</a:t>
            </a:r>
          </a:p>
          <a:p>
            <a:pPr marR="0" lvl="0" rtl="0"/>
            <a:r>
              <a:rPr lang="en-US" sz="2800" b="0" i="1" u="none" strike="noStrike" baseline="0" dirty="0">
                <a:latin typeface="Times New Roman" panose="02020603050405020304" pitchFamily="18" charset="0"/>
              </a:rPr>
              <a:t> Bioenergy</a:t>
            </a:r>
            <a:r>
              <a:rPr lang="en-US" sz="2800" b="0" i="0" u="none" strike="noStrike" baseline="0" dirty="0">
                <a:latin typeface="Times New Roman" panose="02020603050405020304" pitchFamily="18" charset="0"/>
              </a:rPr>
              <a:t>: Advancements in biofuels (biodiesel, biogas) as alternatives to fossil fuels.</a:t>
            </a:r>
          </a:p>
          <a:p>
            <a:pPr marR="0" lvl="0" rtl="0"/>
            <a:r>
              <a:rPr lang="en-US" sz="2800" b="0" i="0" u="none" strike="noStrike" baseline="0" dirty="0">
                <a:latin typeface="Times New Roman" panose="02020603050405020304" pitchFamily="18" charset="0"/>
              </a:rPr>
              <a:t> </a:t>
            </a:r>
            <a:r>
              <a:rPr lang="en-US" sz="2800" b="0" i="1" u="none" strike="noStrike" baseline="0" dirty="0">
                <a:latin typeface="Times New Roman" panose="02020603050405020304" pitchFamily="18" charset="0"/>
              </a:rPr>
              <a:t>Ecosystem Restoration</a:t>
            </a:r>
            <a:r>
              <a:rPr lang="en-US" sz="2800" b="0" i="0" u="none" strike="noStrike" baseline="0" dirty="0">
                <a:latin typeface="Times New Roman" panose="02020603050405020304" pitchFamily="18" charset="0"/>
              </a:rPr>
              <a:t>: Biotechnological approaches for reforestation, soil restoration, and coral reef conservation.</a:t>
            </a:r>
          </a:p>
          <a:p>
            <a:pPr marR="0" lvl="0" rtl="0">
              <a:buFont typeface="Wingdings" panose="05000000000000000000" pitchFamily="2" charset="2"/>
              <a:buChar char="q"/>
            </a:pPr>
            <a:r>
              <a:rPr lang="en-US" sz="2800" b="0" i="0" u="none" strike="noStrike" baseline="0" dirty="0">
                <a:latin typeface="Times New Roman" panose="02020603050405020304" pitchFamily="18" charset="0"/>
              </a:rPr>
              <a:t>Future Focus Areas:</a:t>
            </a:r>
          </a:p>
          <a:p>
            <a:pPr marR="0" lvl="0" rtl="0"/>
            <a:r>
              <a:rPr lang="en-US" sz="2800" b="0" i="1" u="none" strike="noStrike" baseline="0" dirty="0">
                <a:latin typeface="Times New Roman" panose="02020603050405020304" pitchFamily="18" charset="0"/>
              </a:rPr>
              <a:t>AI-Driven Bioremediation</a:t>
            </a:r>
            <a:r>
              <a:rPr lang="en-US" sz="2800" b="0" i="0" u="none" strike="noStrike" baseline="0" dirty="0">
                <a:latin typeface="Times New Roman" panose="02020603050405020304" pitchFamily="18" charset="0"/>
              </a:rPr>
              <a:t>: Machine learning to optimize pollutant breakdown.</a:t>
            </a:r>
          </a:p>
          <a:p>
            <a:pPr marR="0" lvl="0" rtl="0"/>
            <a:r>
              <a:rPr lang="en-US" sz="2800" b="0" i="1" u="none" strike="noStrike" baseline="0" dirty="0">
                <a:latin typeface="Times New Roman" panose="02020603050405020304" pitchFamily="18" charset="0"/>
              </a:rPr>
              <a:t>Circular Bioeconomy</a:t>
            </a:r>
            <a:r>
              <a:rPr lang="en-US" sz="2800" b="0" i="0" u="none" strike="noStrike" baseline="0" dirty="0">
                <a:latin typeface="Times New Roman" panose="02020603050405020304" pitchFamily="18" charset="0"/>
              </a:rPr>
              <a:t>: Sustainable biomass utilization for renewable products.</a:t>
            </a:r>
          </a:p>
          <a:p>
            <a:pPr marR="0" lvl="0" rtl="0"/>
            <a:r>
              <a:rPr lang="en-US" sz="2800" b="0" i="1" u="none" strike="noStrike" baseline="0" dirty="0">
                <a:latin typeface="Times New Roman" panose="02020603050405020304" pitchFamily="18" charset="0"/>
              </a:rPr>
              <a:t>Climate Resilience</a:t>
            </a:r>
            <a:r>
              <a:rPr lang="en-US" sz="2800" b="0" i="0" u="none" strike="noStrike" baseline="0" dirty="0">
                <a:latin typeface="Times New Roman" panose="02020603050405020304" pitchFamily="18" charset="0"/>
              </a:rPr>
              <a:t>: Biotechnology solutions for carbon capture, water purification, and adaptive ecosystems</a:t>
            </a:r>
          </a:p>
          <a:p>
            <a:endParaRPr lang="en-PG" dirty="0"/>
          </a:p>
        </p:txBody>
      </p:sp>
    </p:spTree>
    <p:extLst>
      <p:ext uri="{BB962C8B-B14F-4D97-AF65-F5344CB8AC3E}">
        <p14:creationId xmlns:p14="http://schemas.microsoft.com/office/powerpoint/2010/main" val="1806081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1251E-8148-30C4-6DEA-27C781261985}"/>
              </a:ext>
            </a:extLst>
          </p:cNvPr>
          <p:cNvSpPr>
            <a:spLocks noGrp="1"/>
          </p:cNvSpPr>
          <p:nvPr>
            <p:ph type="title"/>
          </p:nvPr>
        </p:nvSpPr>
        <p:spPr>
          <a:xfrm>
            <a:off x="838200" y="365126"/>
            <a:ext cx="10515600" cy="482599"/>
          </a:xfrm>
        </p:spPr>
        <p:txBody>
          <a:bodyPr>
            <a:normAutofit fontScale="90000"/>
          </a:bodyPr>
          <a:lstStyle/>
          <a:p>
            <a:br>
              <a:rPr lang="en-US" sz="44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Reference</a:t>
            </a:r>
            <a:br>
              <a:rPr lang="en-US" sz="4400" dirty="0">
                <a:latin typeface="Times New Roman" panose="02020603050405020304" pitchFamily="18" charset="0"/>
                <a:cs typeface="Times New Roman" panose="02020603050405020304" pitchFamily="18" charset="0"/>
              </a:rPr>
            </a:br>
            <a:endParaRPr lang="en-PG" dirty="0"/>
          </a:p>
        </p:txBody>
      </p:sp>
      <p:sp>
        <p:nvSpPr>
          <p:cNvPr id="3" name="Content Placeholder 2">
            <a:extLst>
              <a:ext uri="{FF2B5EF4-FFF2-40B4-BE49-F238E27FC236}">
                <a16:creationId xmlns:a16="http://schemas.microsoft.com/office/drawing/2014/main" id="{18B369F5-D511-9A57-0282-8D3BBF39063C}"/>
              </a:ext>
            </a:extLst>
          </p:cNvPr>
          <p:cNvSpPr>
            <a:spLocks noGrp="1"/>
          </p:cNvSpPr>
          <p:nvPr>
            <p:ph idx="1"/>
          </p:nvPr>
        </p:nvSpPr>
        <p:spPr>
          <a:xfrm>
            <a:off x="838200" y="1092200"/>
            <a:ext cx="10515600" cy="4969486"/>
          </a:xfrm>
        </p:spPr>
        <p:txBody>
          <a:bodyPr>
            <a:normAutofit/>
          </a:bodyPr>
          <a:lstStyle/>
          <a:p>
            <a:pPr marL="514350" indent="-514350" algn="just">
              <a:buFont typeface="+mj-lt"/>
              <a:buAutoNum type="arabicPeriod"/>
            </a:pPr>
            <a:r>
              <a:rPr lang="en-US" sz="2600" dirty="0">
                <a:latin typeface="Times New Roman" panose="02020603050405020304" pitchFamily="18" charset="0"/>
                <a:cs typeface="Times New Roman" panose="02020603050405020304" pitchFamily="18" charset="0"/>
              </a:rPr>
              <a:t>Das, S., Dash, H. R., &amp; Chakraborty, J. (</a:t>
            </a:r>
            <a:r>
              <a:rPr lang="en-US" sz="2600" dirty="0">
                <a:solidFill>
                  <a:schemeClr val="accent1"/>
                </a:solidFill>
                <a:latin typeface="Times New Roman" panose="02020603050405020304" pitchFamily="18" charset="0"/>
                <a:cs typeface="Times New Roman" panose="02020603050405020304" pitchFamily="18" charset="0"/>
              </a:rPr>
              <a:t>2014</a:t>
            </a:r>
            <a:r>
              <a:rPr lang="en-US" sz="2600" dirty="0">
                <a:latin typeface="Times New Roman" panose="02020603050405020304" pitchFamily="18" charset="0"/>
                <a:cs typeface="Times New Roman" panose="02020603050405020304" pitchFamily="18" charset="0"/>
              </a:rPr>
              <a:t>). Microbial Biodegradation and Bioremediation. Elsevier.</a:t>
            </a:r>
          </a:p>
          <a:p>
            <a:pPr marL="514350" indent="-514350" algn="just">
              <a:buFont typeface="+mj-lt"/>
              <a:buAutoNum type="arabicPeriod"/>
            </a:pPr>
            <a:r>
              <a:rPr lang="en-US" sz="2600" dirty="0">
                <a:latin typeface="Times New Roman" panose="02020603050405020304" pitchFamily="18" charset="0"/>
                <a:cs typeface="Times New Roman" panose="02020603050405020304" pitchFamily="18" charset="0"/>
              </a:rPr>
              <a:t>Glazer, A. N., &amp; </a:t>
            </a:r>
            <a:r>
              <a:rPr lang="en-US" sz="2600" dirty="0" err="1">
                <a:latin typeface="Times New Roman" panose="02020603050405020304" pitchFamily="18" charset="0"/>
                <a:cs typeface="Times New Roman" panose="02020603050405020304" pitchFamily="18" charset="0"/>
              </a:rPr>
              <a:t>Nikaido</a:t>
            </a:r>
            <a:r>
              <a:rPr lang="en-US" sz="2600" dirty="0">
                <a:latin typeface="Times New Roman" panose="02020603050405020304" pitchFamily="18" charset="0"/>
                <a:cs typeface="Times New Roman" panose="02020603050405020304" pitchFamily="18" charset="0"/>
              </a:rPr>
              <a:t>, H. (</a:t>
            </a:r>
            <a:r>
              <a:rPr lang="en-US" sz="2600" dirty="0">
                <a:solidFill>
                  <a:schemeClr val="accent1"/>
                </a:solidFill>
                <a:latin typeface="Times New Roman" panose="02020603050405020304" pitchFamily="18" charset="0"/>
                <a:cs typeface="Times New Roman" panose="02020603050405020304" pitchFamily="18" charset="0"/>
              </a:rPr>
              <a:t>2017</a:t>
            </a:r>
            <a:r>
              <a:rPr lang="en-US" sz="2600" dirty="0">
                <a:latin typeface="Times New Roman" panose="02020603050405020304" pitchFamily="18" charset="0"/>
                <a:cs typeface="Times New Roman" panose="02020603050405020304" pitchFamily="18" charset="0"/>
              </a:rPr>
              <a:t>). Microbial Biotechnology: Fundamentals of Applied Microbiology (2nd ed.). Cambridge University Press.</a:t>
            </a:r>
          </a:p>
          <a:p>
            <a:pPr marL="514350" indent="-514350" algn="just">
              <a:buFont typeface="+mj-lt"/>
              <a:buAutoNum type="arabicPeriod"/>
            </a:pPr>
            <a:r>
              <a:rPr lang="en-US" sz="2600" dirty="0">
                <a:latin typeface="Times New Roman" panose="02020603050405020304" pitchFamily="18" charset="0"/>
                <a:cs typeface="Times New Roman" panose="02020603050405020304" pitchFamily="18" charset="0"/>
              </a:rPr>
              <a:t>Jansson, J. K., &amp; </a:t>
            </a:r>
            <a:r>
              <a:rPr lang="en-US" sz="2600" dirty="0" err="1">
                <a:latin typeface="Times New Roman" panose="02020603050405020304" pitchFamily="18" charset="0"/>
                <a:cs typeface="Times New Roman" panose="02020603050405020304" pitchFamily="18" charset="0"/>
              </a:rPr>
              <a:t>Hofmockel</a:t>
            </a:r>
            <a:r>
              <a:rPr lang="en-US" sz="2600" dirty="0">
                <a:latin typeface="Times New Roman" panose="02020603050405020304" pitchFamily="18" charset="0"/>
                <a:cs typeface="Times New Roman" panose="02020603050405020304" pitchFamily="18" charset="0"/>
              </a:rPr>
              <a:t>, K. S. (</a:t>
            </a:r>
            <a:r>
              <a:rPr lang="en-US" sz="2600" dirty="0">
                <a:solidFill>
                  <a:schemeClr val="accent1"/>
                </a:solidFill>
                <a:latin typeface="Times New Roman" panose="02020603050405020304" pitchFamily="18" charset="0"/>
                <a:cs typeface="Times New Roman" panose="02020603050405020304" pitchFamily="18" charset="0"/>
              </a:rPr>
              <a:t>2020</a:t>
            </a:r>
            <a:r>
              <a:rPr lang="en-US" sz="2600" dirty="0">
                <a:latin typeface="Times New Roman" panose="02020603050405020304" pitchFamily="18" charset="0"/>
                <a:cs typeface="Times New Roman" panose="02020603050405020304" pitchFamily="18" charset="0"/>
              </a:rPr>
              <a:t>). "Soil microbiomes and climate change." Nature Reviews Microbiology, 18(1), 35-46. </a:t>
            </a:r>
            <a:r>
              <a:rPr lang="en-US" sz="2600" dirty="0">
                <a:latin typeface="Times New Roman" panose="02020603050405020304" pitchFamily="18" charset="0"/>
                <a:cs typeface="Times New Roman" panose="02020603050405020304" pitchFamily="18" charset="0"/>
                <a:hlinkClick r:id="rId2"/>
              </a:rPr>
              <a:t>https://www.nature.com/articles/s41579-019-0265-7</a:t>
            </a:r>
            <a:endParaRPr lang="en-US" sz="26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600" dirty="0">
                <a:latin typeface="Times New Roman" panose="02020603050405020304" pitchFamily="18" charset="0"/>
                <a:cs typeface="Times New Roman" panose="02020603050405020304" pitchFamily="18" charset="0"/>
              </a:rPr>
              <a:t>Rittmann, B. E. (</a:t>
            </a:r>
            <a:r>
              <a:rPr lang="en-US" sz="2600" dirty="0">
                <a:solidFill>
                  <a:schemeClr val="accent1"/>
                </a:solidFill>
                <a:latin typeface="Times New Roman" panose="02020603050405020304" pitchFamily="18" charset="0"/>
                <a:cs typeface="Times New Roman" panose="02020603050405020304" pitchFamily="18" charset="0"/>
              </a:rPr>
              <a:t>2018</a:t>
            </a:r>
            <a:r>
              <a:rPr lang="en-US" sz="2600" dirty="0">
                <a:latin typeface="Times New Roman" panose="02020603050405020304" pitchFamily="18" charset="0"/>
                <a:cs typeface="Times New Roman" panose="02020603050405020304" pitchFamily="18" charset="0"/>
              </a:rPr>
              <a:t>). Opportunities for renewable bioenergy using microorganisms. Biotechnology and Bioengineering, 115(7), 1649-1658.</a:t>
            </a:r>
          </a:p>
          <a:p>
            <a:pPr marL="514350" indent="-514350" algn="just">
              <a:buFont typeface="+mj-lt"/>
              <a:buAutoNum type="arabicPeriod"/>
            </a:pPr>
            <a:r>
              <a:rPr lang="en-US" sz="2600" dirty="0">
                <a:latin typeface="Times New Roman" panose="02020603050405020304" pitchFamily="18" charset="0"/>
                <a:cs typeface="Times New Roman" panose="02020603050405020304" pitchFamily="18" charset="0"/>
              </a:rPr>
              <a:t>Singh, A., &amp; Ward, O. P. (</a:t>
            </a:r>
            <a:r>
              <a:rPr lang="en-US" sz="2600" dirty="0">
                <a:solidFill>
                  <a:schemeClr val="accent1"/>
                </a:solidFill>
                <a:latin typeface="Times New Roman" panose="02020603050405020304" pitchFamily="18" charset="0"/>
                <a:cs typeface="Times New Roman" panose="02020603050405020304" pitchFamily="18" charset="0"/>
              </a:rPr>
              <a:t>2004</a:t>
            </a:r>
            <a:r>
              <a:rPr lang="en-US" sz="2600" dirty="0">
                <a:latin typeface="Times New Roman" panose="02020603050405020304" pitchFamily="18" charset="0"/>
                <a:cs typeface="Times New Roman" panose="02020603050405020304" pitchFamily="18" charset="0"/>
              </a:rPr>
              <a:t>). Biodegradation and Bioremediation. Springer. </a:t>
            </a:r>
          </a:p>
        </p:txBody>
      </p:sp>
    </p:spTree>
    <p:extLst>
      <p:ext uri="{BB962C8B-B14F-4D97-AF65-F5344CB8AC3E}">
        <p14:creationId xmlns:p14="http://schemas.microsoft.com/office/powerpoint/2010/main" val="26954407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2898</TotalTime>
  <Words>1787</Words>
  <Application>Microsoft Office PowerPoint</Application>
  <PresentationFormat>Widescreen</PresentationFormat>
  <Paragraphs>136</Paragraphs>
  <Slides>11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Aharoni</vt:lpstr>
      <vt:lpstr>Arial</vt:lpstr>
      <vt:lpstr>Calibri</vt:lpstr>
      <vt:lpstr>Calibri Light</vt:lpstr>
      <vt:lpstr>Times New Roman</vt:lpstr>
      <vt:lpstr>Wingdings</vt:lpstr>
      <vt:lpstr>Office Theme</vt:lpstr>
      <vt:lpstr>PowerPoint Presentation</vt:lpstr>
      <vt:lpstr>Presentation Outline</vt:lpstr>
      <vt:lpstr>  Introduction to Environmental biotechnology  </vt:lpstr>
      <vt:lpstr>Micro-organism in Environmental biotechnology</vt:lpstr>
      <vt:lpstr> Bio-remediation in Environmental biotechnology </vt:lpstr>
      <vt:lpstr>  Wastewater treatment using biotechnology  </vt:lpstr>
      <vt:lpstr> Bioenergy and renewable resource  </vt:lpstr>
      <vt:lpstr> Phytoremediation and green solution  </vt:lpstr>
      <vt:lpstr> Genetic Manipulation strategies in Environmental biotechnology </vt:lpstr>
      <vt:lpstr>Conclusion and Future Perspectives</vt:lpstr>
      <vt:lpstr> Reference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Nyran Abraham Tahija</dc:creator>
  <cp:lastModifiedBy>Nyran Abraham Tahija</cp:lastModifiedBy>
  <cp:revision>2</cp:revision>
  <dcterms:created xsi:type="dcterms:W3CDTF">2025-02-16T15:53:13Z</dcterms:created>
  <dcterms:modified xsi:type="dcterms:W3CDTF">2025-02-20T09:33:53Z</dcterms:modified>
</cp:coreProperties>
</file>